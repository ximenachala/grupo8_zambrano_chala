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Saluda y preséntate. Di: 'Voy a mostrarles cómo construí una herramienta que descarga datos económicos del Banco Mundial, los procesa automáticamente y los muestra en un dashboard interactivo.'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'El problema era simple: los datos del Banco Mundial existen pero nadie los tiene organizados para comparar países fácilmente ni para predecir el futuro. Por eso construí esta solución.'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'Analicé 7 países durante 24 años usando datos reales del Banco Mundial. La pregunta que me hice fue: ¿Cómo le fue a Colombia comparado con sus vecinos y qué podemos predecir del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'Usé Python como base, la API del Banco Mundial para obtener los datos gratis, Pandas para procesarlos, Streamlit para crear el dashboard, y Docker para que cualquiera pueda correrlo fácilmente.'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'El sistema tiene 4 pasos: primero descarga los datos de internet, luego los limpia, los guarda en la base de datos y finalmente los muestra en el dashboard. Todo pasa automáticamente con un solo comando.'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'Implementé 3 modelos. El primero predice hacia dónde va el PIB. El segundo dice qué variables económicas afectan más el crecimiento. El tercero agrupa los países por similitud para ver con quién se parece Colombia.'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'El modelo de regresión tiene un puntaje de 0.92 sobre 1, lo que significa que es muy preciso. El Random Forest tiene 0.78, que también es bueno. Estos valores los calculé corriendo el notebook con los datos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'En resumen, procesé 168 registros de 7 países durante 24 años. El sistema funciona de punta a punta: desde descargar los datos hasta mostrarlos en gráficas y predecir el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'Si tuviera más tiempo, lo primero sería automatizar las actualizaciones para que los datos siempre estén frescos. Y lo segundo sería publicarlo en internet para que cualquier persona lo pueda usar.'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'En resumen, construí un sistema completo de ingeniería de datos: descarga automática, procesamiento, base de datos, dashboard interactivo y modelos de predicción. Quedo disponible para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E94560"/>
          </a:solidFill>
          <a:ln w="12700">
            <a:solidFill>
              <a:srgbClr val="E94560"/>
            </a:solidFill>
            <a:prstDash val="solid"/>
          </a:ln>
        </p:spPr>
      </p:sp>
      <p:sp>
        <p:nvSpPr>
          <p:cNvPr id="3" name="Shape 1"/>
          <p:cNvSpPr/>
          <p:nvPr/>
        </p:nvSpPr>
        <p:spPr>
          <a:xfrm>
            <a:off x="548640" y="822960"/>
            <a:ext cx="8046720" cy="3474720"/>
          </a:xfrm>
          <a:prstGeom prst="rect">
            <a:avLst/>
          </a:prstGeom>
          <a:solidFill>
            <a:srgbClr val="FFFFFF">
              <a:alpha val="5000"/>
            </a:srgbClr>
          </a:solidFill>
          <a:ln w="12700">
            <a:solidFill>
              <a:srgbClr val="117A65"/>
            </a:solidFill>
            <a:prstDash val="solid"/>
          </a:ln>
        </p:spPr>
      </p:sp>
      <p:sp>
        <p:nvSpPr>
          <p:cNvPr id="4" name="Text 2"/>
          <p:cNvSpPr/>
          <p:nvPr/>
        </p:nvSpPr>
        <p:spPr>
          <a:xfrm>
            <a:off x="731520" y="960120"/>
            <a:ext cx="7680960" cy="457200"/>
          </a:xfrm>
          <a:prstGeom prst="rect">
            <a:avLst/>
          </a:prstGeom>
          <a:noFill/>
          <a:ln/>
        </p:spPr>
        <p:txBody>
          <a:bodyPr wrap="square" rtlCol="0" anchor="ctr"/>
          <a:lstStyle/>
          <a:p>
            <a:pPr indent="0" marL="0">
              <a:buNone/>
            </a:pPr>
            <a:r>
              <a:rPr lang="en-US" sz="1300" b="1" spc="500" kern="0" dirty="0">
                <a:solidFill>
                  <a:srgbClr val="117A65"/>
                </a:solidFill>
              </a:rPr>
              <a:t>🌎  WORLD BANK</a:t>
            </a:r>
            <a:endParaRPr lang="en-US" sz="1300" dirty="0"/>
          </a:p>
        </p:txBody>
      </p:sp>
      <p:sp>
        <p:nvSpPr>
          <p:cNvPr id="5" name="Text 3"/>
          <p:cNvSpPr/>
          <p:nvPr/>
        </p:nvSpPr>
        <p:spPr>
          <a:xfrm>
            <a:off x="731520" y="1417320"/>
            <a:ext cx="7680960" cy="1463040"/>
          </a:xfrm>
          <a:prstGeom prst="rect">
            <a:avLst/>
          </a:prstGeom>
          <a:noFill/>
          <a:ln/>
        </p:spPr>
        <p:txBody>
          <a:bodyPr wrap="square" rtlCol="0" anchor="ctr"/>
          <a:lstStyle/>
          <a:p>
            <a:pPr indent="0" marL="0">
              <a:lnSpc>
                <a:spcPct val="115000"/>
              </a:lnSpc>
              <a:buNone/>
            </a:pPr>
            <a:r>
              <a:rPr lang="en-US" sz="3400" b="1" dirty="0">
                <a:solidFill>
                  <a:srgbClr val="FFFFFF"/>
                </a:solidFill>
              </a:rPr>
              <a:t>¿Cómo le fue a Colombia</a:t>
            </a:r>
            <a:endParaRPr lang="en-US" sz="3400" dirty="0"/>
          </a:p>
          <a:p>
            <a:pPr indent="0" marL="0">
              <a:lnSpc>
                <a:spcPct val="115000"/>
              </a:lnSpc>
              <a:buNone/>
            </a:pPr>
            <a:r>
              <a:rPr lang="en-US" sz="3400" b="1" dirty="0">
                <a:solidFill>
                  <a:srgbClr val="FFFFFF"/>
                </a:solidFill>
              </a:rPr>
              <a:t>económicamente en 24 años?</a:t>
            </a:r>
            <a:endParaRPr lang="en-US" sz="3400" dirty="0"/>
          </a:p>
        </p:txBody>
      </p:sp>
      <p:sp>
        <p:nvSpPr>
          <p:cNvPr id="6" name="Text 4"/>
          <p:cNvSpPr/>
          <p:nvPr/>
        </p:nvSpPr>
        <p:spPr>
          <a:xfrm>
            <a:off x="731520" y="2926080"/>
            <a:ext cx="7680960" cy="411480"/>
          </a:xfrm>
          <a:prstGeom prst="rect">
            <a:avLst/>
          </a:prstGeom>
          <a:noFill/>
          <a:ln/>
        </p:spPr>
        <p:txBody>
          <a:bodyPr wrap="square" rtlCol="0" anchor="ctr"/>
          <a:lstStyle/>
          <a:p>
            <a:pPr indent="0" marL="0">
              <a:buNone/>
            </a:pPr>
            <a:r>
              <a:rPr lang="en-US" sz="1400" i="1" dirty="0">
                <a:solidFill>
                  <a:srgbClr val="D5D8DC"/>
                </a:solidFill>
              </a:rPr>
              <a:t>Análisis PIB Colombia vs América Latina  |  2000–2023</a:t>
            </a:r>
            <a:endParaRPr lang="en-US" sz="1400" dirty="0"/>
          </a:p>
        </p:txBody>
      </p:sp>
      <p:sp>
        <p:nvSpPr>
          <p:cNvPr id="7" name="Shape 5"/>
          <p:cNvSpPr/>
          <p:nvPr/>
        </p:nvSpPr>
        <p:spPr>
          <a:xfrm>
            <a:off x="731520" y="3429000"/>
            <a:ext cx="7680960" cy="36576"/>
          </a:xfrm>
          <a:prstGeom prst="rect">
            <a:avLst/>
          </a:prstGeom>
          <a:solidFill>
            <a:srgbClr val="E94560"/>
          </a:solidFill>
          <a:ln w="12700">
            <a:solidFill>
              <a:srgbClr val="E94560"/>
            </a:solidFill>
            <a:prstDash val="solid"/>
          </a:ln>
        </p:spPr>
      </p:sp>
      <p:sp>
        <p:nvSpPr>
          <p:cNvPr id="8" name="Text 6"/>
          <p:cNvSpPr/>
          <p:nvPr/>
        </p:nvSpPr>
        <p:spPr>
          <a:xfrm>
            <a:off x="731520" y="3547872"/>
            <a:ext cx="7680960" cy="365760"/>
          </a:xfrm>
          <a:prstGeom prst="rect">
            <a:avLst/>
          </a:prstGeom>
          <a:noFill/>
          <a:ln/>
        </p:spPr>
        <p:txBody>
          <a:bodyPr wrap="square" rtlCol="0" anchor="ctr"/>
          <a:lstStyle/>
          <a:p>
            <a:pPr indent="0" marL="0">
              <a:buNone/>
            </a:pPr>
            <a:r>
              <a:rPr lang="en-US" sz="1100" dirty="0">
                <a:solidFill>
                  <a:srgbClr val="7F8C8D"/>
                </a:solidFill>
              </a:rPr>
              <a:t>Ximena del Pilar Zambrano Chala  |  Grupo 8  |  ETL + Dashboard + Machine Learning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457200" y="91440"/>
            <a:ext cx="8229600" cy="594360"/>
          </a:xfrm>
          <a:prstGeom prst="rect">
            <a:avLst/>
          </a:prstGeom>
          <a:noFill/>
          <a:ln/>
        </p:spPr>
        <p:txBody>
          <a:bodyPr wrap="square" rtlCol="0" anchor="ctr"/>
          <a:lstStyle/>
          <a:p>
            <a:pPr indent="0" marL="0">
              <a:buNone/>
            </a:pPr>
            <a:r>
              <a:rPr lang="en-US" sz="2200" b="1" dirty="0">
                <a:solidFill>
                  <a:srgbClr val="FFFFFF"/>
                </a:solidFill>
              </a:rPr>
              <a:t>¿CUÁL ERA EL PROBLEMA?</a:t>
            </a:r>
            <a:endParaRPr lang="en-US" sz="2200" dirty="0"/>
          </a:p>
        </p:txBody>
      </p:sp>
      <p:sp>
        <p:nvSpPr>
          <p:cNvPr id="4" name="Shape 2"/>
          <p:cNvSpPr/>
          <p:nvPr/>
        </p:nvSpPr>
        <p:spPr>
          <a:xfrm>
            <a:off x="320040" y="960120"/>
            <a:ext cx="2651760" cy="3749040"/>
          </a:xfrm>
          <a:prstGeom prst="rect">
            <a:avLst/>
          </a:prstGeom>
          <a:solidFill>
            <a:srgbClr val="FFFFFF"/>
          </a:solidFill>
          <a:ln w="6350">
            <a:solidFill>
              <a:srgbClr val="D5D8DC"/>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960120"/>
            <a:ext cx="2651760" cy="64008"/>
          </a:xfrm>
          <a:prstGeom prst="rect">
            <a:avLst/>
          </a:prstGeom>
          <a:solidFill>
            <a:srgbClr val="E94560"/>
          </a:solidFill>
          <a:ln w="12700">
            <a:solidFill>
              <a:srgbClr val="E94560"/>
            </a:solidFill>
            <a:prstDash val="solid"/>
          </a:ln>
        </p:spPr>
      </p:sp>
      <p:sp>
        <p:nvSpPr>
          <p:cNvPr id="6" name="Text 4"/>
          <p:cNvSpPr/>
          <p:nvPr/>
        </p:nvSpPr>
        <p:spPr>
          <a:xfrm>
            <a:off x="320040" y="1097280"/>
            <a:ext cx="2651760" cy="777240"/>
          </a:xfrm>
          <a:prstGeom prst="rect">
            <a:avLst/>
          </a:prstGeom>
          <a:noFill/>
          <a:ln/>
        </p:spPr>
        <p:txBody>
          <a:bodyPr wrap="square" rtlCol="0" anchor="ctr"/>
          <a:lstStyle/>
          <a:p>
            <a:pPr algn="ctr" indent="0" marL="0">
              <a:buNone/>
            </a:pPr>
            <a:r>
              <a:rPr lang="en-US" sz="3800" dirty="0">
                <a:solidFill>
                  <a:srgbClr val="000000"/>
                </a:solidFill>
              </a:rPr>
              <a:t>😵</a:t>
            </a:r>
            <a:endParaRPr lang="en-US" sz="3800" dirty="0"/>
          </a:p>
        </p:txBody>
      </p:sp>
      <p:sp>
        <p:nvSpPr>
          <p:cNvPr id="7" name="Text 5"/>
          <p:cNvSpPr/>
          <p:nvPr/>
        </p:nvSpPr>
        <p:spPr>
          <a:xfrm>
            <a:off x="457200" y="1920240"/>
            <a:ext cx="2377440" cy="594360"/>
          </a:xfrm>
          <a:prstGeom prst="rect">
            <a:avLst/>
          </a:prstGeom>
          <a:noFill/>
          <a:ln/>
        </p:spPr>
        <p:txBody>
          <a:bodyPr wrap="square" rtlCol="0" anchor="ctr"/>
          <a:lstStyle/>
          <a:p>
            <a:pPr algn="ctr" indent="0" marL="0">
              <a:buNone/>
            </a:pPr>
            <a:r>
              <a:rPr lang="en-US" sz="1400" b="1" dirty="0">
                <a:solidFill>
                  <a:srgbClr val="0D1B2A"/>
                </a:solidFill>
              </a:rPr>
              <a:t>Los datos estaban regados</a:t>
            </a:r>
            <a:endParaRPr lang="en-US" sz="1400" dirty="0"/>
          </a:p>
        </p:txBody>
      </p:sp>
      <p:sp>
        <p:nvSpPr>
          <p:cNvPr id="8" name="Text 6"/>
          <p:cNvSpPr/>
          <p:nvPr/>
        </p:nvSpPr>
        <p:spPr>
          <a:xfrm>
            <a:off x="457200" y="2578608"/>
            <a:ext cx="2377440" cy="1920240"/>
          </a:xfrm>
          <a:prstGeom prst="rect">
            <a:avLst/>
          </a:prstGeom>
          <a:noFill/>
          <a:ln/>
        </p:spPr>
        <p:txBody>
          <a:bodyPr wrap="square" rtlCol="0" anchor="t"/>
          <a:lstStyle/>
          <a:p>
            <a:pPr algn="l" indent="0" marL="0">
              <a:buNone/>
            </a:pPr>
            <a:r>
              <a:rPr lang="en-US" sz="1200" dirty="0">
                <a:solidFill>
                  <a:srgbClr val="7F8C8D"/>
                </a:solidFill>
              </a:rPr>
              <a:t>El Banco Mundial tiene miles de datos económicos pero están dispersos y son difíciles de consultar manualmente.</a:t>
            </a:r>
            <a:endParaRPr lang="en-US" sz="1200" dirty="0"/>
          </a:p>
        </p:txBody>
      </p:sp>
      <p:sp>
        <p:nvSpPr>
          <p:cNvPr id="9" name="Shape 7"/>
          <p:cNvSpPr/>
          <p:nvPr/>
        </p:nvSpPr>
        <p:spPr>
          <a:xfrm>
            <a:off x="3154680" y="960120"/>
            <a:ext cx="2651760" cy="3749040"/>
          </a:xfrm>
          <a:prstGeom prst="rect">
            <a:avLst/>
          </a:prstGeom>
          <a:solidFill>
            <a:srgbClr val="FFFFFF"/>
          </a:solidFill>
          <a:ln w="6350">
            <a:solidFill>
              <a:srgbClr val="D5D8DC"/>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154680" y="960120"/>
            <a:ext cx="2651760" cy="64008"/>
          </a:xfrm>
          <a:prstGeom prst="rect">
            <a:avLst/>
          </a:prstGeom>
          <a:solidFill>
            <a:srgbClr val="E94560"/>
          </a:solidFill>
          <a:ln w="12700">
            <a:solidFill>
              <a:srgbClr val="E94560"/>
            </a:solidFill>
            <a:prstDash val="solid"/>
          </a:ln>
        </p:spPr>
      </p:sp>
      <p:sp>
        <p:nvSpPr>
          <p:cNvPr id="11" name="Text 9"/>
          <p:cNvSpPr/>
          <p:nvPr/>
        </p:nvSpPr>
        <p:spPr>
          <a:xfrm>
            <a:off x="3154680" y="1097280"/>
            <a:ext cx="2651760" cy="777240"/>
          </a:xfrm>
          <a:prstGeom prst="rect">
            <a:avLst/>
          </a:prstGeom>
          <a:noFill/>
          <a:ln/>
        </p:spPr>
        <p:txBody>
          <a:bodyPr wrap="square" rtlCol="0" anchor="ctr"/>
          <a:lstStyle/>
          <a:p>
            <a:pPr algn="ctr" indent="0" marL="0">
              <a:buNone/>
            </a:pPr>
            <a:r>
              <a:rPr lang="en-US" sz="3800" dirty="0">
                <a:solidFill>
                  <a:srgbClr val="000000"/>
                </a:solidFill>
              </a:rPr>
              <a:t>⏱️</a:t>
            </a:r>
            <a:endParaRPr lang="en-US" sz="3800" dirty="0"/>
          </a:p>
        </p:txBody>
      </p:sp>
      <p:sp>
        <p:nvSpPr>
          <p:cNvPr id="12" name="Text 10"/>
          <p:cNvSpPr/>
          <p:nvPr/>
        </p:nvSpPr>
        <p:spPr>
          <a:xfrm>
            <a:off x="3291840" y="1920240"/>
            <a:ext cx="2377440" cy="594360"/>
          </a:xfrm>
          <a:prstGeom prst="rect">
            <a:avLst/>
          </a:prstGeom>
          <a:noFill/>
          <a:ln/>
        </p:spPr>
        <p:txBody>
          <a:bodyPr wrap="square" rtlCol="0" anchor="ctr"/>
          <a:lstStyle/>
          <a:p>
            <a:pPr algn="ctr" indent="0" marL="0">
              <a:buNone/>
            </a:pPr>
            <a:r>
              <a:rPr lang="en-US" sz="1400" b="1" dirty="0">
                <a:solidFill>
                  <a:srgbClr val="0D1B2A"/>
                </a:solidFill>
              </a:rPr>
              <a:t>Comparar era lento</a:t>
            </a:r>
            <a:endParaRPr lang="en-US" sz="1400" dirty="0"/>
          </a:p>
        </p:txBody>
      </p:sp>
      <p:sp>
        <p:nvSpPr>
          <p:cNvPr id="13" name="Text 11"/>
          <p:cNvSpPr/>
          <p:nvPr/>
        </p:nvSpPr>
        <p:spPr>
          <a:xfrm>
            <a:off x="3291840" y="2578608"/>
            <a:ext cx="2377440" cy="1920240"/>
          </a:xfrm>
          <a:prstGeom prst="rect">
            <a:avLst/>
          </a:prstGeom>
          <a:noFill/>
          <a:ln/>
        </p:spPr>
        <p:txBody>
          <a:bodyPr wrap="square" rtlCol="0" anchor="t"/>
          <a:lstStyle/>
          <a:p>
            <a:pPr algn="l" indent="0" marL="0">
              <a:buNone/>
            </a:pPr>
            <a:r>
              <a:rPr lang="en-US" sz="1200" dirty="0">
                <a:solidFill>
                  <a:srgbClr val="7F8C8D"/>
                </a:solidFill>
              </a:rPr>
              <a:t>No había forma fácil de ver cómo Colombia se compara con Brasil, México o Argentina al mismo tiempo.</a:t>
            </a:r>
            <a:endParaRPr lang="en-US" sz="1200" dirty="0"/>
          </a:p>
        </p:txBody>
      </p:sp>
      <p:sp>
        <p:nvSpPr>
          <p:cNvPr id="14" name="Shape 12"/>
          <p:cNvSpPr/>
          <p:nvPr/>
        </p:nvSpPr>
        <p:spPr>
          <a:xfrm>
            <a:off x="5989320" y="960120"/>
            <a:ext cx="2651760" cy="3749040"/>
          </a:xfrm>
          <a:prstGeom prst="rect">
            <a:avLst/>
          </a:prstGeom>
          <a:solidFill>
            <a:srgbClr val="FFFFFF"/>
          </a:solidFill>
          <a:ln w="6350">
            <a:solidFill>
              <a:srgbClr val="D5D8DC"/>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5989320" y="960120"/>
            <a:ext cx="2651760" cy="64008"/>
          </a:xfrm>
          <a:prstGeom prst="rect">
            <a:avLst/>
          </a:prstGeom>
          <a:solidFill>
            <a:srgbClr val="E94560"/>
          </a:solidFill>
          <a:ln w="12700">
            <a:solidFill>
              <a:srgbClr val="E94560"/>
            </a:solidFill>
            <a:prstDash val="solid"/>
          </a:ln>
        </p:spPr>
      </p:sp>
      <p:sp>
        <p:nvSpPr>
          <p:cNvPr id="16" name="Text 14"/>
          <p:cNvSpPr/>
          <p:nvPr/>
        </p:nvSpPr>
        <p:spPr>
          <a:xfrm>
            <a:off x="5989320" y="1097280"/>
            <a:ext cx="2651760" cy="777240"/>
          </a:xfrm>
          <a:prstGeom prst="rect">
            <a:avLst/>
          </a:prstGeom>
          <a:noFill/>
          <a:ln/>
        </p:spPr>
        <p:txBody>
          <a:bodyPr wrap="square" rtlCol="0" anchor="ctr"/>
          <a:lstStyle/>
          <a:p>
            <a:pPr algn="ctr" indent="0" marL="0">
              <a:buNone/>
            </a:pPr>
            <a:r>
              <a:rPr lang="en-US" sz="3800" dirty="0">
                <a:solidFill>
                  <a:srgbClr val="000000"/>
                </a:solidFill>
              </a:rPr>
              <a:t>🔮</a:t>
            </a:r>
            <a:endParaRPr lang="en-US" sz="3800" dirty="0"/>
          </a:p>
        </p:txBody>
      </p:sp>
      <p:sp>
        <p:nvSpPr>
          <p:cNvPr id="17" name="Text 15"/>
          <p:cNvSpPr/>
          <p:nvPr/>
        </p:nvSpPr>
        <p:spPr>
          <a:xfrm>
            <a:off x="6126480" y="1920240"/>
            <a:ext cx="2377440" cy="594360"/>
          </a:xfrm>
          <a:prstGeom prst="rect">
            <a:avLst/>
          </a:prstGeom>
          <a:noFill/>
          <a:ln/>
        </p:spPr>
        <p:txBody>
          <a:bodyPr wrap="square" rtlCol="0" anchor="ctr"/>
          <a:lstStyle/>
          <a:p>
            <a:pPr algn="ctr" indent="0" marL="0">
              <a:buNone/>
            </a:pPr>
            <a:r>
              <a:rPr lang="en-US" sz="1400" b="1" dirty="0">
                <a:solidFill>
                  <a:srgbClr val="0D1B2A"/>
                </a:solidFill>
              </a:rPr>
              <a:t>No había predicción</a:t>
            </a:r>
            <a:endParaRPr lang="en-US" sz="1400" dirty="0"/>
          </a:p>
        </p:txBody>
      </p:sp>
      <p:sp>
        <p:nvSpPr>
          <p:cNvPr id="18" name="Text 16"/>
          <p:cNvSpPr/>
          <p:nvPr/>
        </p:nvSpPr>
        <p:spPr>
          <a:xfrm>
            <a:off x="6126480" y="2578608"/>
            <a:ext cx="2377440" cy="1920240"/>
          </a:xfrm>
          <a:prstGeom prst="rect">
            <a:avLst/>
          </a:prstGeom>
          <a:noFill/>
          <a:ln/>
        </p:spPr>
        <p:txBody>
          <a:bodyPr wrap="square" rtlCol="0" anchor="t"/>
          <a:lstStyle/>
          <a:p>
            <a:pPr algn="l" indent="0" marL="0">
              <a:buNone/>
            </a:pPr>
            <a:r>
              <a:rPr lang="en-US" sz="1200" dirty="0">
                <a:solidFill>
                  <a:srgbClr val="7F8C8D"/>
                </a:solidFill>
              </a:rPr>
              <a:t>Nadie podía ver hacia dónde va el PIB de Colombia sin hacer cálculos complicados a mano.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457200" y="91440"/>
            <a:ext cx="8229600" cy="594360"/>
          </a:xfrm>
          <a:prstGeom prst="rect">
            <a:avLst/>
          </a:prstGeom>
          <a:noFill/>
          <a:ln/>
        </p:spPr>
        <p:txBody>
          <a:bodyPr wrap="square" rtlCol="0" anchor="ctr"/>
          <a:lstStyle/>
          <a:p>
            <a:pPr indent="0" marL="0">
              <a:buNone/>
            </a:pPr>
            <a:r>
              <a:rPr lang="en-US" sz="2200" b="1" dirty="0">
                <a:solidFill>
                  <a:srgbClr val="FFFFFF"/>
                </a:solidFill>
              </a:rPr>
              <a:t>¿QUÉ HICE?</a:t>
            </a:r>
            <a:endParaRPr lang="en-US" sz="2200" dirty="0"/>
          </a:p>
        </p:txBody>
      </p:sp>
      <p:sp>
        <p:nvSpPr>
          <p:cNvPr id="4" name="Shape 2"/>
          <p:cNvSpPr/>
          <p:nvPr/>
        </p:nvSpPr>
        <p:spPr>
          <a:xfrm>
            <a:off x="274320" y="914400"/>
            <a:ext cx="3931920" cy="384048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74320" y="914400"/>
            <a:ext cx="3931920" cy="54864"/>
          </a:xfrm>
          <a:prstGeom prst="rect">
            <a:avLst/>
          </a:prstGeom>
          <a:solidFill>
            <a:srgbClr val="117A65"/>
          </a:solidFill>
          <a:ln w="12700">
            <a:solidFill>
              <a:srgbClr val="117A65"/>
            </a:solidFill>
            <a:prstDash val="solid"/>
          </a:ln>
        </p:spPr>
      </p:sp>
      <p:sp>
        <p:nvSpPr>
          <p:cNvPr id="6" name="Text 4"/>
          <p:cNvSpPr/>
          <p:nvPr/>
        </p:nvSpPr>
        <p:spPr>
          <a:xfrm>
            <a:off x="457200" y="1005840"/>
            <a:ext cx="3566160" cy="457200"/>
          </a:xfrm>
          <a:prstGeom prst="rect">
            <a:avLst/>
          </a:prstGeom>
          <a:noFill/>
          <a:ln/>
        </p:spPr>
        <p:txBody>
          <a:bodyPr wrap="square" rtlCol="0" anchor="ctr"/>
          <a:lstStyle/>
          <a:p>
            <a:pPr indent="0" marL="0">
              <a:buNone/>
            </a:pPr>
            <a:r>
              <a:rPr lang="en-US" sz="1500" b="1" dirty="0">
                <a:solidFill>
                  <a:srgbClr val="117A65"/>
                </a:solidFill>
              </a:rPr>
              <a:t>📊  LO QUE ANALICÉ</a:t>
            </a:r>
            <a:endParaRPr lang="en-US" sz="1500" dirty="0"/>
          </a:p>
        </p:txBody>
      </p:sp>
      <p:sp>
        <p:nvSpPr>
          <p:cNvPr id="7" name="Text 5"/>
          <p:cNvSpPr/>
          <p:nvPr/>
        </p:nvSpPr>
        <p:spPr>
          <a:xfrm>
            <a:off x="457200" y="1554480"/>
            <a:ext cx="3566160" cy="2926080"/>
          </a:xfrm>
          <a:prstGeom prst="rect">
            <a:avLst/>
          </a:prstGeom>
          <a:noFill/>
          <a:ln/>
        </p:spPr>
        <p:txBody>
          <a:bodyPr wrap="square" rtlCol="0" anchor="ctr"/>
          <a:lstStyle/>
          <a:p>
            <a:pPr marL="342900" indent="-342900">
              <a:spcAft>
                <a:spcPts val="1000"/>
              </a:spcAft>
              <a:buSzPct val="100000"/>
              <a:buChar char="•"/>
            </a:pPr>
            <a:r>
              <a:rPr lang="en-US" sz="1200" dirty="0">
                <a:solidFill>
                  <a:srgbClr val="0D1B2A"/>
                </a:solidFill>
              </a:rPr>
              <a:t>7 países: Colombia, USA, Brasil, México,</a:t>
            </a:r>
            <a:endParaRPr lang="en-US" sz="1200" dirty="0"/>
          </a:p>
          <a:p>
            <a:pPr marL="342900" indent="-342900">
              <a:spcAft>
                <a:spcPts val="1000"/>
              </a:spcAft>
              <a:buSzPct val="100000"/>
              <a:buChar char="•"/>
            </a:pPr>
            <a:r>
              <a:rPr lang="en-US" sz="1200" dirty="0">
                <a:solidFill>
                  <a:srgbClr val="0D1B2A"/>
                </a:solidFill>
              </a:rPr>
              <a:t>  Argentina, Chile y Perú</a:t>
            </a:r>
            <a:endParaRPr lang="en-US" sz="1200" dirty="0"/>
          </a:p>
          <a:p>
            <a:pPr marL="342900" indent="-342900">
              <a:spcAft>
                <a:spcPts val="1000"/>
              </a:spcAft>
              <a:buSzPct val="100000"/>
              <a:buChar char="•"/>
            </a:pPr>
            <a:r>
              <a:rPr lang="en-US" sz="1200" dirty="0">
                <a:solidFill>
                  <a:srgbClr val="0D1B2A"/>
                </a:solidFill>
              </a:rPr>
              <a:t>24 años de historia: 2000 hasta 2023</a:t>
            </a:r>
            <a:endParaRPr lang="en-US" sz="1200" dirty="0"/>
          </a:p>
          <a:p>
            <a:pPr marL="342900" indent="-342900">
              <a:spcAft>
                <a:spcPts val="1000"/>
              </a:spcAft>
              <a:buSzPct val="100000"/>
              <a:buChar char="•"/>
            </a:pPr>
            <a:r>
              <a:rPr lang="en-US" sz="1200" dirty="0">
                <a:solidFill>
                  <a:srgbClr val="0D1B2A"/>
                </a:solidFill>
              </a:rPr>
              <a:t>8 indicadores: PIB, crecimiento,</a:t>
            </a:r>
            <a:endParaRPr lang="en-US" sz="1200" dirty="0"/>
          </a:p>
          <a:p>
            <a:pPr marL="342900" indent="-342900">
              <a:spcAft>
                <a:spcPts val="1000"/>
              </a:spcAft>
              <a:buSzPct val="100000"/>
              <a:buChar char="•"/>
            </a:pPr>
            <a:r>
              <a:rPr lang="en-US" sz="1200" dirty="0">
                <a:solidFill>
                  <a:srgbClr val="0D1B2A"/>
                </a:solidFill>
              </a:rPr>
              <a:t>  inflación, desempleo, exportaciones...</a:t>
            </a:r>
            <a:endParaRPr lang="en-US" sz="1200" dirty="0"/>
          </a:p>
          <a:p>
            <a:pPr marL="342900" indent="-342900">
              <a:spcAft>
                <a:spcPts val="1000"/>
              </a:spcAft>
              <a:buSzPct val="100000"/>
              <a:buChar char="•"/>
            </a:pPr>
            <a:r>
              <a:rPr lang="en-US" sz="1200" dirty="0">
                <a:solidFill>
                  <a:srgbClr val="0D1B2A"/>
                </a:solidFill>
              </a:rPr>
              <a:t>168 registros de datos limpios</a:t>
            </a:r>
            <a:endParaRPr lang="en-US" sz="1200" dirty="0"/>
          </a:p>
        </p:txBody>
      </p:sp>
      <p:sp>
        <p:nvSpPr>
          <p:cNvPr id="8" name="Shape 6"/>
          <p:cNvSpPr/>
          <p:nvPr/>
        </p:nvSpPr>
        <p:spPr>
          <a:xfrm>
            <a:off x="4572000" y="914400"/>
            <a:ext cx="4206240" cy="3840480"/>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4754880" y="1051560"/>
            <a:ext cx="3840480" cy="457200"/>
          </a:xfrm>
          <a:prstGeom prst="rect">
            <a:avLst/>
          </a:prstGeom>
          <a:noFill/>
          <a:ln/>
        </p:spPr>
        <p:txBody>
          <a:bodyPr wrap="square" rtlCol="0" anchor="ctr"/>
          <a:lstStyle/>
          <a:p>
            <a:pPr indent="0" marL="0">
              <a:buNone/>
            </a:pPr>
            <a:r>
              <a:rPr lang="en-US" sz="1400" b="1" dirty="0">
                <a:solidFill>
                  <a:srgbClr val="117A65"/>
                </a:solidFill>
              </a:rPr>
              <a:t>❓  PREGUNTA CENTRAL</a:t>
            </a:r>
            <a:endParaRPr lang="en-US" sz="1400" dirty="0"/>
          </a:p>
        </p:txBody>
      </p:sp>
      <p:sp>
        <p:nvSpPr>
          <p:cNvPr id="10" name="Text 8"/>
          <p:cNvSpPr/>
          <p:nvPr/>
        </p:nvSpPr>
        <p:spPr>
          <a:xfrm>
            <a:off x="4754880" y="1645920"/>
            <a:ext cx="3749040" cy="2011680"/>
          </a:xfrm>
          <a:prstGeom prst="rect">
            <a:avLst/>
          </a:prstGeom>
          <a:noFill/>
          <a:ln/>
        </p:spPr>
        <p:txBody>
          <a:bodyPr wrap="square" rtlCol="0" anchor="ctr"/>
          <a:lstStyle/>
          <a:p>
            <a:pPr indent="0" marL="0">
              <a:lnSpc>
                <a:spcPct val="130000"/>
              </a:lnSpc>
              <a:buNone/>
            </a:pPr>
            <a:r>
              <a:rPr lang="en-US" sz="1800" b="1" dirty="0">
                <a:solidFill>
                  <a:srgbClr val="FFFFFF"/>
                </a:solidFill>
              </a:rPr>
              <a:t>¿Cómo creció Colombia</a:t>
            </a:r>
            <a:endParaRPr lang="en-US" sz="1800" dirty="0"/>
          </a:p>
          <a:p>
            <a:pPr indent="0" marL="0">
              <a:lnSpc>
                <a:spcPct val="130000"/>
              </a:lnSpc>
              <a:buNone/>
            </a:pPr>
            <a:r>
              <a:rPr lang="en-US" sz="1800" b="1" dirty="0">
                <a:solidFill>
                  <a:srgbClr val="FFFFFF"/>
                </a:solidFill>
              </a:rPr>
              <a:t>económicamente vs</a:t>
            </a:r>
            <a:endParaRPr lang="en-US" sz="1800" dirty="0"/>
          </a:p>
          <a:p>
            <a:pPr indent="0" marL="0">
              <a:lnSpc>
                <a:spcPct val="130000"/>
              </a:lnSpc>
              <a:buNone/>
            </a:pPr>
            <a:r>
              <a:rPr lang="en-US" sz="1800" b="1" dirty="0">
                <a:solidFill>
                  <a:srgbClr val="FFFFFF"/>
                </a:solidFill>
              </a:rPr>
              <a:t>América Latina en 24 años,</a:t>
            </a:r>
            <a:endParaRPr lang="en-US" sz="1800" dirty="0"/>
          </a:p>
          <a:p>
            <a:pPr indent="0" marL="0">
              <a:lnSpc>
                <a:spcPct val="130000"/>
              </a:lnSpc>
              <a:buNone/>
            </a:pPr>
            <a:r>
              <a:rPr lang="en-US" sz="1800" b="1" dirty="0">
                <a:solidFill>
                  <a:srgbClr val="FFFFFF"/>
                </a:solidFill>
              </a:rPr>
              <a:t>y hacia dónde va su PIB?</a:t>
            </a:r>
            <a:endParaRPr lang="en-US" sz="1800" dirty="0"/>
          </a:p>
        </p:txBody>
      </p:sp>
      <p:sp>
        <p:nvSpPr>
          <p:cNvPr id="11" name="Shape 9"/>
          <p:cNvSpPr/>
          <p:nvPr/>
        </p:nvSpPr>
        <p:spPr>
          <a:xfrm>
            <a:off x="4754880" y="3749040"/>
            <a:ext cx="3749040" cy="36576"/>
          </a:xfrm>
          <a:prstGeom prst="rect">
            <a:avLst/>
          </a:prstGeom>
          <a:solidFill>
            <a:srgbClr val="E94560"/>
          </a:solidFill>
          <a:ln w="12700">
            <a:solidFill>
              <a:srgbClr val="E94560"/>
            </a:solidFill>
            <a:prstDash val="solid"/>
          </a:ln>
        </p:spPr>
      </p:sp>
      <p:sp>
        <p:nvSpPr>
          <p:cNvPr id="12" name="Text 10"/>
          <p:cNvSpPr/>
          <p:nvPr/>
        </p:nvSpPr>
        <p:spPr>
          <a:xfrm>
            <a:off x="4754880" y="3858768"/>
            <a:ext cx="3749040" cy="365760"/>
          </a:xfrm>
          <a:prstGeom prst="rect">
            <a:avLst/>
          </a:prstGeom>
          <a:noFill/>
          <a:ln/>
        </p:spPr>
        <p:txBody>
          <a:bodyPr wrap="square" rtlCol="0" anchor="ctr"/>
          <a:lstStyle/>
          <a:p>
            <a:pPr indent="0" marL="0">
              <a:buNone/>
            </a:pPr>
            <a:r>
              <a:rPr lang="en-US" sz="1000" i="1" dirty="0">
                <a:solidFill>
                  <a:srgbClr val="7F8C8D"/>
                </a:solidFill>
              </a:rPr>
              <a:t>Fuente: api.worldbank.org — gratis, sin registro</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457200" y="91440"/>
            <a:ext cx="8229600" cy="594360"/>
          </a:xfrm>
          <a:prstGeom prst="rect">
            <a:avLst/>
          </a:prstGeom>
          <a:noFill/>
          <a:ln/>
        </p:spPr>
        <p:txBody>
          <a:bodyPr wrap="square" rtlCol="0" anchor="ctr"/>
          <a:lstStyle/>
          <a:p>
            <a:pPr indent="0" marL="0">
              <a:buNone/>
            </a:pPr>
            <a:r>
              <a:rPr lang="en-US" sz="2200" b="1" dirty="0">
                <a:solidFill>
                  <a:srgbClr val="FFFFFF"/>
                </a:solidFill>
              </a:rPr>
              <a:t>¿CON QUÉ LO CONSTRUÍ?</a:t>
            </a:r>
            <a:endParaRPr lang="en-US" sz="2200" dirty="0"/>
          </a:p>
        </p:txBody>
      </p:sp>
      <p:sp>
        <p:nvSpPr>
          <p:cNvPr id="4" name="Shape 2"/>
          <p:cNvSpPr/>
          <p:nvPr/>
        </p:nvSpPr>
        <p:spPr>
          <a:xfrm>
            <a:off x="320040" y="914400"/>
            <a:ext cx="1965960" cy="173736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320040" y="1024128"/>
            <a:ext cx="1965960" cy="6858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411480" y="1719072"/>
            <a:ext cx="1783080" cy="457200"/>
          </a:xfrm>
          <a:prstGeom prst="rect">
            <a:avLst/>
          </a:prstGeom>
          <a:noFill/>
          <a:ln/>
        </p:spPr>
        <p:txBody>
          <a:bodyPr wrap="square" rtlCol="0" anchor="ctr"/>
          <a:lstStyle/>
          <a:p>
            <a:pPr algn="ctr" indent="0" marL="0">
              <a:buNone/>
            </a:pPr>
            <a:r>
              <a:rPr lang="en-US" sz="1300" b="1" dirty="0">
                <a:solidFill>
                  <a:srgbClr val="0D1B2A"/>
                </a:solidFill>
              </a:rPr>
              <a:t>Python</a:t>
            </a:r>
            <a:endParaRPr lang="en-US" sz="1300" dirty="0"/>
          </a:p>
        </p:txBody>
      </p:sp>
      <p:sp>
        <p:nvSpPr>
          <p:cNvPr id="7" name="Text 5"/>
          <p:cNvSpPr/>
          <p:nvPr/>
        </p:nvSpPr>
        <p:spPr>
          <a:xfrm>
            <a:off x="411480" y="2176272"/>
            <a:ext cx="1783080" cy="347472"/>
          </a:xfrm>
          <a:prstGeom prst="rect">
            <a:avLst/>
          </a:prstGeom>
          <a:noFill/>
          <a:ln/>
        </p:spPr>
        <p:txBody>
          <a:bodyPr wrap="square" rtlCol="0" anchor="ctr"/>
          <a:lstStyle/>
          <a:p>
            <a:pPr algn="ctr" indent="0" marL="0">
              <a:buNone/>
            </a:pPr>
            <a:r>
              <a:rPr lang="en-US" sz="1000" dirty="0">
                <a:solidFill>
                  <a:srgbClr val="7F8C8D"/>
                </a:solidFill>
              </a:rPr>
              <a:t>El lenguaje de programación</a:t>
            </a:r>
            <a:endParaRPr lang="en-US" sz="1000" dirty="0"/>
          </a:p>
        </p:txBody>
      </p:sp>
      <p:sp>
        <p:nvSpPr>
          <p:cNvPr id="8" name="Shape 6"/>
          <p:cNvSpPr/>
          <p:nvPr/>
        </p:nvSpPr>
        <p:spPr>
          <a:xfrm>
            <a:off x="2468880" y="914400"/>
            <a:ext cx="1965960" cy="173736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2468880" y="1024128"/>
            <a:ext cx="1965960" cy="6858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2560320" y="1719072"/>
            <a:ext cx="1783080" cy="457200"/>
          </a:xfrm>
          <a:prstGeom prst="rect">
            <a:avLst/>
          </a:prstGeom>
          <a:noFill/>
          <a:ln/>
        </p:spPr>
        <p:txBody>
          <a:bodyPr wrap="square" rtlCol="0" anchor="ctr"/>
          <a:lstStyle/>
          <a:p>
            <a:pPr algn="ctr" indent="0" marL="0">
              <a:buNone/>
            </a:pPr>
            <a:r>
              <a:rPr lang="en-US" sz="1300" b="1" dirty="0">
                <a:solidFill>
                  <a:srgbClr val="0D1B2A"/>
                </a:solidFill>
              </a:rPr>
              <a:t>API Banco</a:t>
            </a:r>
            <a:endParaRPr lang="en-US" sz="1300" dirty="0"/>
          </a:p>
          <a:p>
            <a:pPr algn="ctr" indent="0" marL="0">
              <a:buNone/>
            </a:pPr>
            <a:r>
              <a:rPr lang="en-US" sz="1300" b="1" dirty="0">
                <a:solidFill>
                  <a:srgbClr val="0D1B2A"/>
                </a:solidFill>
              </a:rPr>
              <a:t>Mundial</a:t>
            </a:r>
            <a:endParaRPr lang="en-US" sz="1300" dirty="0"/>
          </a:p>
        </p:txBody>
      </p:sp>
      <p:sp>
        <p:nvSpPr>
          <p:cNvPr id="11" name="Text 9"/>
          <p:cNvSpPr/>
          <p:nvPr/>
        </p:nvSpPr>
        <p:spPr>
          <a:xfrm>
            <a:off x="2560320" y="2176272"/>
            <a:ext cx="1783080" cy="347472"/>
          </a:xfrm>
          <a:prstGeom prst="rect">
            <a:avLst/>
          </a:prstGeom>
          <a:noFill/>
          <a:ln/>
        </p:spPr>
        <p:txBody>
          <a:bodyPr wrap="square" rtlCol="0" anchor="ctr"/>
          <a:lstStyle/>
          <a:p>
            <a:pPr algn="ctr" indent="0" marL="0">
              <a:buNone/>
            </a:pPr>
            <a:r>
              <a:rPr lang="en-US" sz="1000" dirty="0">
                <a:solidFill>
                  <a:srgbClr val="7F8C8D"/>
                </a:solidFill>
              </a:rPr>
              <a:t>De donde vienen los datos</a:t>
            </a:r>
            <a:endParaRPr lang="en-US" sz="1000" dirty="0"/>
          </a:p>
        </p:txBody>
      </p:sp>
      <p:sp>
        <p:nvSpPr>
          <p:cNvPr id="12" name="Shape 10"/>
          <p:cNvSpPr/>
          <p:nvPr/>
        </p:nvSpPr>
        <p:spPr>
          <a:xfrm>
            <a:off x="4617720" y="914400"/>
            <a:ext cx="1965960" cy="173736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4617720" y="1024128"/>
            <a:ext cx="1965960" cy="6858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4709160" y="1719072"/>
            <a:ext cx="1783080" cy="457200"/>
          </a:xfrm>
          <a:prstGeom prst="rect">
            <a:avLst/>
          </a:prstGeom>
          <a:noFill/>
          <a:ln/>
        </p:spPr>
        <p:txBody>
          <a:bodyPr wrap="square" rtlCol="0" anchor="ctr"/>
          <a:lstStyle/>
          <a:p>
            <a:pPr algn="ctr" indent="0" marL="0">
              <a:buNone/>
            </a:pPr>
            <a:r>
              <a:rPr lang="en-US" sz="1300" b="1" dirty="0">
                <a:solidFill>
                  <a:srgbClr val="0D1B2A"/>
                </a:solidFill>
              </a:rPr>
              <a:t>Pandas</a:t>
            </a:r>
            <a:endParaRPr lang="en-US" sz="1300" dirty="0"/>
          </a:p>
        </p:txBody>
      </p:sp>
      <p:sp>
        <p:nvSpPr>
          <p:cNvPr id="15" name="Text 13"/>
          <p:cNvSpPr/>
          <p:nvPr/>
        </p:nvSpPr>
        <p:spPr>
          <a:xfrm>
            <a:off x="4709160" y="2176272"/>
            <a:ext cx="1783080" cy="347472"/>
          </a:xfrm>
          <a:prstGeom prst="rect">
            <a:avLst/>
          </a:prstGeom>
          <a:noFill/>
          <a:ln/>
        </p:spPr>
        <p:txBody>
          <a:bodyPr wrap="square" rtlCol="0" anchor="ctr"/>
          <a:lstStyle/>
          <a:p>
            <a:pPr algn="ctr" indent="0" marL="0">
              <a:buNone/>
            </a:pPr>
            <a:r>
              <a:rPr lang="en-US" sz="1000" dirty="0">
                <a:solidFill>
                  <a:srgbClr val="7F8C8D"/>
                </a:solidFill>
              </a:rPr>
              <a:t>Para limpiar y organizar datos</a:t>
            </a:r>
            <a:endParaRPr lang="en-US" sz="1000" dirty="0"/>
          </a:p>
        </p:txBody>
      </p:sp>
      <p:sp>
        <p:nvSpPr>
          <p:cNvPr id="16" name="Shape 14"/>
          <p:cNvSpPr/>
          <p:nvPr/>
        </p:nvSpPr>
        <p:spPr>
          <a:xfrm>
            <a:off x="6766560" y="914400"/>
            <a:ext cx="1965960" cy="173736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6766560" y="1024128"/>
            <a:ext cx="1965960" cy="6858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6858000" y="1719072"/>
            <a:ext cx="1783080" cy="457200"/>
          </a:xfrm>
          <a:prstGeom prst="rect">
            <a:avLst/>
          </a:prstGeom>
          <a:noFill/>
          <a:ln/>
        </p:spPr>
        <p:txBody>
          <a:bodyPr wrap="square" rtlCol="0" anchor="ctr"/>
          <a:lstStyle/>
          <a:p>
            <a:pPr algn="ctr" indent="0" marL="0">
              <a:buNone/>
            </a:pPr>
            <a:r>
              <a:rPr lang="en-US" sz="1300" b="1" dirty="0">
                <a:solidFill>
                  <a:srgbClr val="0D1B2A"/>
                </a:solidFill>
              </a:rPr>
              <a:t>Streamlit</a:t>
            </a:r>
            <a:endParaRPr lang="en-US" sz="1300" dirty="0"/>
          </a:p>
        </p:txBody>
      </p:sp>
      <p:sp>
        <p:nvSpPr>
          <p:cNvPr id="19" name="Text 17"/>
          <p:cNvSpPr/>
          <p:nvPr/>
        </p:nvSpPr>
        <p:spPr>
          <a:xfrm>
            <a:off x="6858000" y="2176272"/>
            <a:ext cx="1783080" cy="347472"/>
          </a:xfrm>
          <a:prstGeom prst="rect">
            <a:avLst/>
          </a:prstGeom>
          <a:noFill/>
          <a:ln/>
        </p:spPr>
        <p:txBody>
          <a:bodyPr wrap="square" rtlCol="0" anchor="ctr"/>
          <a:lstStyle/>
          <a:p>
            <a:pPr algn="ctr" indent="0" marL="0">
              <a:buNone/>
            </a:pPr>
            <a:r>
              <a:rPr lang="en-US" sz="1000" dirty="0">
                <a:solidFill>
                  <a:srgbClr val="7F8C8D"/>
                </a:solidFill>
              </a:rPr>
              <a:t>Para crear el dashboard web</a:t>
            </a:r>
            <a:endParaRPr lang="en-US" sz="1000" dirty="0"/>
          </a:p>
        </p:txBody>
      </p:sp>
      <p:sp>
        <p:nvSpPr>
          <p:cNvPr id="20" name="Shape 18"/>
          <p:cNvSpPr/>
          <p:nvPr/>
        </p:nvSpPr>
        <p:spPr>
          <a:xfrm>
            <a:off x="320040" y="2834640"/>
            <a:ext cx="1965960" cy="173736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21" name="Text 19"/>
          <p:cNvSpPr/>
          <p:nvPr/>
        </p:nvSpPr>
        <p:spPr>
          <a:xfrm>
            <a:off x="320040" y="2944368"/>
            <a:ext cx="1965960" cy="6858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2" name="Text 20"/>
          <p:cNvSpPr/>
          <p:nvPr/>
        </p:nvSpPr>
        <p:spPr>
          <a:xfrm>
            <a:off x="411480" y="3639312"/>
            <a:ext cx="1783080" cy="457200"/>
          </a:xfrm>
          <a:prstGeom prst="rect">
            <a:avLst/>
          </a:prstGeom>
          <a:noFill/>
          <a:ln/>
        </p:spPr>
        <p:txBody>
          <a:bodyPr wrap="square" rtlCol="0" anchor="ctr"/>
          <a:lstStyle/>
          <a:p>
            <a:pPr algn="ctr" indent="0" marL="0">
              <a:buNone/>
            </a:pPr>
            <a:r>
              <a:rPr lang="en-US" sz="1300" b="1" dirty="0">
                <a:solidFill>
                  <a:srgbClr val="0D1B2A"/>
                </a:solidFill>
              </a:rPr>
              <a:t>Plotly</a:t>
            </a:r>
            <a:endParaRPr lang="en-US" sz="1300" dirty="0"/>
          </a:p>
        </p:txBody>
      </p:sp>
      <p:sp>
        <p:nvSpPr>
          <p:cNvPr id="23" name="Text 21"/>
          <p:cNvSpPr/>
          <p:nvPr/>
        </p:nvSpPr>
        <p:spPr>
          <a:xfrm>
            <a:off x="411480" y="4096512"/>
            <a:ext cx="1783080" cy="347472"/>
          </a:xfrm>
          <a:prstGeom prst="rect">
            <a:avLst/>
          </a:prstGeom>
          <a:noFill/>
          <a:ln/>
        </p:spPr>
        <p:txBody>
          <a:bodyPr wrap="square" rtlCol="0" anchor="ctr"/>
          <a:lstStyle/>
          <a:p>
            <a:pPr algn="ctr" indent="0" marL="0">
              <a:buNone/>
            </a:pPr>
            <a:r>
              <a:rPr lang="en-US" sz="1000" dirty="0">
                <a:solidFill>
                  <a:srgbClr val="7F8C8D"/>
                </a:solidFill>
              </a:rPr>
              <a:t>Para hacer las gráficas</a:t>
            </a:r>
            <a:endParaRPr lang="en-US" sz="1000" dirty="0"/>
          </a:p>
        </p:txBody>
      </p:sp>
      <p:sp>
        <p:nvSpPr>
          <p:cNvPr id="24" name="Shape 22"/>
          <p:cNvSpPr/>
          <p:nvPr/>
        </p:nvSpPr>
        <p:spPr>
          <a:xfrm>
            <a:off x="2468880" y="2834640"/>
            <a:ext cx="1965960" cy="173736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25" name="Text 23"/>
          <p:cNvSpPr/>
          <p:nvPr/>
        </p:nvSpPr>
        <p:spPr>
          <a:xfrm>
            <a:off x="2468880" y="2944368"/>
            <a:ext cx="1965960" cy="6858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6" name="Text 24"/>
          <p:cNvSpPr/>
          <p:nvPr/>
        </p:nvSpPr>
        <p:spPr>
          <a:xfrm>
            <a:off x="2560320" y="3639312"/>
            <a:ext cx="1783080" cy="457200"/>
          </a:xfrm>
          <a:prstGeom prst="rect">
            <a:avLst/>
          </a:prstGeom>
          <a:noFill/>
          <a:ln/>
        </p:spPr>
        <p:txBody>
          <a:bodyPr wrap="square" rtlCol="0" anchor="ctr"/>
          <a:lstStyle/>
          <a:p>
            <a:pPr algn="ctr" indent="0" marL="0">
              <a:buNone/>
            </a:pPr>
            <a:r>
              <a:rPr lang="en-US" sz="1300" b="1" dirty="0">
                <a:solidFill>
                  <a:srgbClr val="0D1B2A"/>
                </a:solidFill>
              </a:rPr>
              <a:t>Scikit-learn</a:t>
            </a:r>
            <a:endParaRPr lang="en-US" sz="1300" dirty="0"/>
          </a:p>
        </p:txBody>
      </p:sp>
      <p:sp>
        <p:nvSpPr>
          <p:cNvPr id="27" name="Text 25"/>
          <p:cNvSpPr/>
          <p:nvPr/>
        </p:nvSpPr>
        <p:spPr>
          <a:xfrm>
            <a:off x="2560320" y="4096512"/>
            <a:ext cx="1783080" cy="347472"/>
          </a:xfrm>
          <a:prstGeom prst="rect">
            <a:avLst/>
          </a:prstGeom>
          <a:noFill/>
          <a:ln/>
        </p:spPr>
        <p:txBody>
          <a:bodyPr wrap="square" rtlCol="0" anchor="ctr"/>
          <a:lstStyle/>
          <a:p>
            <a:pPr algn="ctr" indent="0" marL="0">
              <a:buNone/>
            </a:pPr>
            <a:r>
              <a:rPr lang="en-US" sz="1000" dirty="0">
                <a:solidFill>
                  <a:srgbClr val="7F8C8D"/>
                </a:solidFill>
              </a:rPr>
              <a:t>Para los modelos de predicción</a:t>
            </a:r>
            <a:endParaRPr lang="en-US" sz="1000" dirty="0"/>
          </a:p>
        </p:txBody>
      </p:sp>
      <p:sp>
        <p:nvSpPr>
          <p:cNvPr id="28" name="Shape 26"/>
          <p:cNvSpPr/>
          <p:nvPr/>
        </p:nvSpPr>
        <p:spPr>
          <a:xfrm>
            <a:off x="4617720" y="2834640"/>
            <a:ext cx="1965960" cy="173736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29" name="Text 27"/>
          <p:cNvSpPr/>
          <p:nvPr/>
        </p:nvSpPr>
        <p:spPr>
          <a:xfrm>
            <a:off x="4617720" y="2944368"/>
            <a:ext cx="1965960" cy="6858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30" name="Text 28"/>
          <p:cNvSpPr/>
          <p:nvPr/>
        </p:nvSpPr>
        <p:spPr>
          <a:xfrm>
            <a:off x="4709160" y="3639312"/>
            <a:ext cx="1783080" cy="457200"/>
          </a:xfrm>
          <a:prstGeom prst="rect">
            <a:avLst/>
          </a:prstGeom>
          <a:noFill/>
          <a:ln/>
        </p:spPr>
        <p:txBody>
          <a:bodyPr wrap="square" rtlCol="0" anchor="ctr"/>
          <a:lstStyle/>
          <a:p>
            <a:pPr algn="ctr" indent="0" marL="0">
              <a:buNone/>
            </a:pPr>
            <a:r>
              <a:rPr lang="en-US" sz="1300" b="1" dirty="0">
                <a:solidFill>
                  <a:srgbClr val="0D1B2A"/>
                </a:solidFill>
              </a:rPr>
              <a:t>PostgreSQL</a:t>
            </a:r>
            <a:endParaRPr lang="en-US" sz="1300" dirty="0"/>
          </a:p>
        </p:txBody>
      </p:sp>
      <p:sp>
        <p:nvSpPr>
          <p:cNvPr id="31" name="Text 29"/>
          <p:cNvSpPr/>
          <p:nvPr/>
        </p:nvSpPr>
        <p:spPr>
          <a:xfrm>
            <a:off x="4709160" y="4096512"/>
            <a:ext cx="1783080" cy="347472"/>
          </a:xfrm>
          <a:prstGeom prst="rect">
            <a:avLst/>
          </a:prstGeom>
          <a:noFill/>
          <a:ln/>
        </p:spPr>
        <p:txBody>
          <a:bodyPr wrap="square" rtlCol="0" anchor="ctr"/>
          <a:lstStyle/>
          <a:p>
            <a:pPr algn="ctr" indent="0" marL="0">
              <a:buNone/>
            </a:pPr>
            <a:r>
              <a:rPr lang="en-US" sz="1000" dirty="0">
                <a:solidFill>
                  <a:srgbClr val="7F8C8D"/>
                </a:solidFill>
              </a:rPr>
              <a:t>La base de datos</a:t>
            </a:r>
            <a:endParaRPr lang="en-US" sz="1000" dirty="0"/>
          </a:p>
        </p:txBody>
      </p:sp>
      <p:sp>
        <p:nvSpPr>
          <p:cNvPr id="32" name="Shape 30"/>
          <p:cNvSpPr/>
          <p:nvPr/>
        </p:nvSpPr>
        <p:spPr>
          <a:xfrm>
            <a:off x="6766560" y="2834640"/>
            <a:ext cx="1965960" cy="173736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33" name="Text 31"/>
          <p:cNvSpPr/>
          <p:nvPr/>
        </p:nvSpPr>
        <p:spPr>
          <a:xfrm>
            <a:off x="6766560" y="2944368"/>
            <a:ext cx="1965960" cy="6858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34" name="Text 32"/>
          <p:cNvSpPr/>
          <p:nvPr/>
        </p:nvSpPr>
        <p:spPr>
          <a:xfrm>
            <a:off x="6858000" y="3639312"/>
            <a:ext cx="1783080" cy="457200"/>
          </a:xfrm>
          <a:prstGeom prst="rect">
            <a:avLst/>
          </a:prstGeom>
          <a:noFill/>
          <a:ln/>
        </p:spPr>
        <p:txBody>
          <a:bodyPr wrap="square" rtlCol="0" anchor="ctr"/>
          <a:lstStyle/>
          <a:p>
            <a:pPr algn="ctr" indent="0" marL="0">
              <a:buNone/>
            </a:pPr>
            <a:r>
              <a:rPr lang="en-US" sz="1300" b="1" dirty="0">
                <a:solidFill>
                  <a:srgbClr val="0D1B2A"/>
                </a:solidFill>
              </a:rPr>
              <a:t>Docker</a:t>
            </a:r>
            <a:endParaRPr lang="en-US" sz="1300" dirty="0"/>
          </a:p>
        </p:txBody>
      </p:sp>
      <p:sp>
        <p:nvSpPr>
          <p:cNvPr id="35" name="Text 33"/>
          <p:cNvSpPr/>
          <p:nvPr/>
        </p:nvSpPr>
        <p:spPr>
          <a:xfrm>
            <a:off x="6858000" y="4096512"/>
            <a:ext cx="1783080" cy="347472"/>
          </a:xfrm>
          <a:prstGeom prst="rect">
            <a:avLst/>
          </a:prstGeom>
          <a:noFill/>
          <a:ln/>
        </p:spPr>
        <p:txBody>
          <a:bodyPr wrap="square" rtlCol="0" anchor="ctr"/>
          <a:lstStyle/>
          <a:p>
            <a:pPr algn="ctr" indent="0" marL="0">
              <a:buNone/>
            </a:pPr>
            <a:r>
              <a:rPr lang="en-US" sz="1000" dirty="0">
                <a:solidFill>
                  <a:srgbClr val="7F8C8D"/>
                </a:solidFill>
              </a:rPr>
              <a:t>Para empaquetar todo junto</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457200" y="91440"/>
            <a:ext cx="8229600" cy="594360"/>
          </a:xfrm>
          <a:prstGeom prst="rect">
            <a:avLst/>
          </a:prstGeom>
          <a:noFill/>
          <a:ln/>
        </p:spPr>
        <p:txBody>
          <a:bodyPr wrap="square" rtlCol="0" anchor="ctr"/>
          <a:lstStyle/>
          <a:p>
            <a:pPr indent="0" marL="0">
              <a:buNone/>
            </a:pPr>
            <a:r>
              <a:rPr lang="en-US" sz="2200" b="1" dirty="0">
                <a:solidFill>
                  <a:srgbClr val="FFFFFF"/>
                </a:solidFill>
              </a:rPr>
              <a:t>¿CÓMO FUNCIONA POR DENTRO?</a:t>
            </a:r>
            <a:endParaRPr lang="en-US" sz="2200" dirty="0"/>
          </a:p>
        </p:txBody>
      </p:sp>
      <p:sp>
        <p:nvSpPr>
          <p:cNvPr id="4" name="Shape 2"/>
          <p:cNvSpPr/>
          <p:nvPr/>
        </p:nvSpPr>
        <p:spPr>
          <a:xfrm>
            <a:off x="411480" y="1005840"/>
            <a:ext cx="1828800" cy="1920240"/>
          </a:xfrm>
          <a:prstGeom prst="rect">
            <a:avLst/>
          </a:prstGeom>
          <a:solidFill>
            <a:srgbClr val="117A65"/>
          </a:solidFill>
          <a:ln w="12700">
            <a:solidFill>
              <a:srgbClr val="117A65"/>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411480" y="1024128"/>
            <a:ext cx="1828800" cy="502920"/>
          </a:xfrm>
          <a:prstGeom prst="rect">
            <a:avLst/>
          </a:prstGeom>
          <a:noFill/>
          <a:ln/>
        </p:spPr>
        <p:txBody>
          <a:bodyPr wrap="square" rtlCol="0" anchor="ctr"/>
          <a:lstStyle/>
          <a:p>
            <a:pPr algn="ctr" indent="0" marL="0">
              <a:buNone/>
            </a:pPr>
            <a:r>
              <a:rPr lang="en-US" sz="2800" b="1" dirty="0">
                <a:solidFill>
                  <a:srgbClr val="FFFFFF"/>
                </a:solidFill>
              </a:rPr>
              <a:t>1</a:t>
            </a:r>
            <a:endParaRPr lang="en-US" sz="2800" dirty="0"/>
          </a:p>
        </p:txBody>
      </p:sp>
      <p:sp>
        <p:nvSpPr>
          <p:cNvPr id="6" name="Text 4"/>
          <p:cNvSpPr/>
          <p:nvPr/>
        </p:nvSpPr>
        <p:spPr>
          <a:xfrm>
            <a:off x="411480" y="1463040"/>
            <a:ext cx="182880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7" name="Text 5"/>
          <p:cNvSpPr/>
          <p:nvPr/>
        </p:nvSpPr>
        <p:spPr>
          <a:xfrm>
            <a:off x="411480" y="1993392"/>
            <a:ext cx="1828800" cy="411480"/>
          </a:xfrm>
          <a:prstGeom prst="rect">
            <a:avLst/>
          </a:prstGeom>
          <a:noFill/>
          <a:ln/>
        </p:spPr>
        <p:txBody>
          <a:bodyPr wrap="square" rtlCol="0" anchor="ctr"/>
          <a:lstStyle/>
          <a:p>
            <a:pPr algn="ctr" indent="0" marL="0">
              <a:buNone/>
            </a:pPr>
            <a:r>
              <a:rPr lang="en-US" sz="1400" b="1" dirty="0">
                <a:solidFill>
                  <a:srgbClr val="FFFFFF"/>
                </a:solidFill>
              </a:rPr>
              <a:t>Descargar</a:t>
            </a:r>
            <a:endParaRPr lang="en-US" sz="1400" dirty="0"/>
          </a:p>
        </p:txBody>
      </p:sp>
      <p:sp>
        <p:nvSpPr>
          <p:cNvPr id="8" name="Shape 6"/>
          <p:cNvSpPr/>
          <p:nvPr/>
        </p:nvSpPr>
        <p:spPr>
          <a:xfrm>
            <a:off x="2240280" y="1874520"/>
            <a:ext cx="274320" cy="73152"/>
          </a:xfrm>
          <a:prstGeom prst="rect">
            <a:avLst/>
          </a:prstGeom>
          <a:solidFill>
            <a:srgbClr val="E94560"/>
          </a:solidFill>
          <a:ln w="12700">
            <a:solidFill>
              <a:srgbClr val="E94560"/>
            </a:solidFill>
            <a:prstDash val="solid"/>
          </a:ln>
        </p:spPr>
      </p:sp>
      <p:sp>
        <p:nvSpPr>
          <p:cNvPr id="9" name="Shape 7"/>
          <p:cNvSpPr/>
          <p:nvPr/>
        </p:nvSpPr>
        <p:spPr>
          <a:xfrm>
            <a:off x="411480" y="3063240"/>
            <a:ext cx="1828800" cy="178308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502920" y="3154680"/>
            <a:ext cx="1645920" cy="1600200"/>
          </a:xfrm>
          <a:prstGeom prst="rect">
            <a:avLst/>
          </a:prstGeom>
          <a:noFill/>
          <a:ln/>
        </p:spPr>
        <p:txBody>
          <a:bodyPr wrap="square" rtlCol="0" anchor="t"/>
          <a:lstStyle/>
          <a:p>
            <a:pPr algn="l" indent="0" marL="0">
              <a:buNone/>
            </a:pPr>
            <a:r>
              <a:rPr lang="en-US" sz="1100" dirty="0">
                <a:solidFill>
                  <a:srgbClr val="0D1B2A"/>
                </a:solidFill>
              </a:rPr>
              <a:t>El script llama a la API</a:t>
            </a:r>
            <a:endParaRPr lang="en-US" sz="1100" dirty="0"/>
          </a:p>
          <a:p>
            <a:pPr algn="l" indent="0" marL="0">
              <a:buNone/>
            </a:pPr>
            <a:r>
              <a:rPr lang="en-US" sz="1100" dirty="0">
                <a:solidFill>
                  <a:srgbClr val="0D1B2A"/>
                </a:solidFill>
              </a:rPr>
              <a:t>y descarga los datos</a:t>
            </a:r>
            <a:endParaRPr lang="en-US" sz="1100" dirty="0"/>
          </a:p>
          <a:p>
            <a:pPr algn="l" indent="0" marL="0">
              <a:buNone/>
            </a:pPr>
            <a:r>
              <a:rPr lang="en-US" sz="1100" dirty="0">
                <a:solidFill>
                  <a:srgbClr val="0D1B2A"/>
                </a:solidFill>
              </a:rPr>
              <a:t>automáticamente</a:t>
            </a:r>
            <a:endParaRPr lang="en-US" sz="1100" dirty="0"/>
          </a:p>
        </p:txBody>
      </p:sp>
      <p:sp>
        <p:nvSpPr>
          <p:cNvPr id="11" name="Shape 9"/>
          <p:cNvSpPr/>
          <p:nvPr/>
        </p:nvSpPr>
        <p:spPr>
          <a:xfrm>
            <a:off x="2514600" y="1005840"/>
            <a:ext cx="1828800" cy="1920240"/>
          </a:xfrm>
          <a:prstGeom prst="rect">
            <a:avLst/>
          </a:prstGeom>
          <a:solidFill>
            <a:srgbClr val="1B4F72"/>
          </a:solidFill>
          <a:ln w="12700">
            <a:solidFill>
              <a:srgbClr val="1B4F72"/>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2514600" y="1024128"/>
            <a:ext cx="1828800" cy="502920"/>
          </a:xfrm>
          <a:prstGeom prst="rect">
            <a:avLst/>
          </a:prstGeom>
          <a:noFill/>
          <a:ln/>
        </p:spPr>
        <p:txBody>
          <a:bodyPr wrap="square" rtlCol="0" anchor="ctr"/>
          <a:lstStyle/>
          <a:p>
            <a:pPr algn="ctr" indent="0" marL="0">
              <a:buNone/>
            </a:pPr>
            <a:r>
              <a:rPr lang="en-US" sz="2800" b="1" dirty="0">
                <a:solidFill>
                  <a:srgbClr val="FFFFFF"/>
                </a:solidFill>
              </a:rPr>
              <a:t>2</a:t>
            </a:r>
            <a:endParaRPr lang="en-US" sz="2800" dirty="0"/>
          </a:p>
        </p:txBody>
      </p:sp>
      <p:sp>
        <p:nvSpPr>
          <p:cNvPr id="13" name="Text 11"/>
          <p:cNvSpPr/>
          <p:nvPr/>
        </p:nvSpPr>
        <p:spPr>
          <a:xfrm>
            <a:off x="2514600" y="1463040"/>
            <a:ext cx="182880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4" name="Text 12"/>
          <p:cNvSpPr/>
          <p:nvPr/>
        </p:nvSpPr>
        <p:spPr>
          <a:xfrm>
            <a:off x="2514600" y="1993392"/>
            <a:ext cx="1828800" cy="411480"/>
          </a:xfrm>
          <a:prstGeom prst="rect">
            <a:avLst/>
          </a:prstGeom>
          <a:noFill/>
          <a:ln/>
        </p:spPr>
        <p:txBody>
          <a:bodyPr wrap="square" rtlCol="0" anchor="ctr"/>
          <a:lstStyle/>
          <a:p>
            <a:pPr algn="ctr" indent="0" marL="0">
              <a:buNone/>
            </a:pPr>
            <a:r>
              <a:rPr lang="en-US" sz="1400" b="1" dirty="0">
                <a:solidFill>
                  <a:srgbClr val="FFFFFF"/>
                </a:solidFill>
              </a:rPr>
              <a:t>Limpiar</a:t>
            </a:r>
            <a:endParaRPr lang="en-US" sz="1400" dirty="0"/>
          </a:p>
        </p:txBody>
      </p:sp>
      <p:sp>
        <p:nvSpPr>
          <p:cNvPr id="15" name="Shape 13"/>
          <p:cNvSpPr/>
          <p:nvPr/>
        </p:nvSpPr>
        <p:spPr>
          <a:xfrm>
            <a:off x="4343400" y="1874520"/>
            <a:ext cx="274320" cy="73152"/>
          </a:xfrm>
          <a:prstGeom prst="rect">
            <a:avLst/>
          </a:prstGeom>
          <a:solidFill>
            <a:srgbClr val="E94560"/>
          </a:solidFill>
          <a:ln w="12700">
            <a:solidFill>
              <a:srgbClr val="E94560"/>
            </a:solidFill>
            <a:prstDash val="solid"/>
          </a:ln>
        </p:spPr>
      </p:sp>
      <p:sp>
        <p:nvSpPr>
          <p:cNvPr id="16" name="Shape 14"/>
          <p:cNvSpPr/>
          <p:nvPr/>
        </p:nvSpPr>
        <p:spPr>
          <a:xfrm>
            <a:off x="2514600" y="3063240"/>
            <a:ext cx="1828800" cy="178308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2606040" y="3154680"/>
            <a:ext cx="1645920" cy="1600200"/>
          </a:xfrm>
          <a:prstGeom prst="rect">
            <a:avLst/>
          </a:prstGeom>
          <a:noFill/>
          <a:ln/>
        </p:spPr>
        <p:txBody>
          <a:bodyPr wrap="square" rtlCol="0" anchor="t"/>
          <a:lstStyle/>
          <a:p>
            <a:pPr algn="l" indent="0" marL="0">
              <a:buNone/>
            </a:pPr>
            <a:r>
              <a:rPr lang="en-US" sz="1100" dirty="0">
                <a:solidFill>
                  <a:srgbClr val="0D1B2A"/>
                </a:solidFill>
              </a:rPr>
              <a:t>Se eliminan datos</a:t>
            </a:r>
            <a:endParaRPr lang="en-US" sz="1100" dirty="0"/>
          </a:p>
          <a:p>
            <a:pPr algn="l" indent="0" marL="0">
              <a:buNone/>
            </a:pPr>
            <a:r>
              <a:rPr lang="en-US" sz="1100" dirty="0">
                <a:solidFill>
                  <a:srgbClr val="0D1B2A"/>
                </a:solidFill>
              </a:rPr>
              <a:t>incompletos y se</a:t>
            </a:r>
            <a:endParaRPr lang="en-US" sz="1100" dirty="0"/>
          </a:p>
          <a:p>
            <a:pPr algn="l" indent="0" marL="0">
              <a:buNone/>
            </a:pPr>
            <a:r>
              <a:rPr lang="en-US" sz="1100" dirty="0">
                <a:solidFill>
                  <a:srgbClr val="0D1B2A"/>
                </a:solidFill>
              </a:rPr>
              <a:t>organizan las columnas</a:t>
            </a:r>
            <a:endParaRPr lang="en-US" sz="1100" dirty="0"/>
          </a:p>
        </p:txBody>
      </p:sp>
      <p:sp>
        <p:nvSpPr>
          <p:cNvPr id="18" name="Shape 16"/>
          <p:cNvSpPr/>
          <p:nvPr/>
        </p:nvSpPr>
        <p:spPr>
          <a:xfrm>
            <a:off x="4617720" y="1005840"/>
            <a:ext cx="1828800" cy="1920240"/>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4617720" y="1024128"/>
            <a:ext cx="1828800" cy="502920"/>
          </a:xfrm>
          <a:prstGeom prst="rect">
            <a:avLst/>
          </a:prstGeom>
          <a:noFill/>
          <a:ln/>
        </p:spPr>
        <p:txBody>
          <a:bodyPr wrap="square" rtlCol="0" anchor="ctr"/>
          <a:lstStyle/>
          <a:p>
            <a:pPr algn="ctr" indent="0" marL="0">
              <a:buNone/>
            </a:pPr>
            <a:r>
              <a:rPr lang="en-US" sz="2800" b="1" dirty="0">
                <a:solidFill>
                  <a:srgbClr val="FFFFFF"/>
                </a:solidFill>
              </a:rPr>
              <a:t>3</a:t>
            </a:r>
            <a:endParaRPr lang="en-US" sz="2800" dirty="0"/>
          </a:p>
        </p:txBody>
      </p:sp>
      <p:sp>
        <p:nvSpPr>
          <p:cNvPr id="20" name="Text 18"/>
          <p:cNvSpPr/>
          <p:nvPr/>
        </p:nvSpPr>
        <p:spPr>
          <a:xfrm>
            <a:off x="4617720" y="1463040"/>
            <a:ext cx="182880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1" name="Text 19"/>
          <p:cNvSpPr/>
          <p:nvPr/>
        </p:nvSpPr>
        <p:spPr>
          <a:xfrm>
            <a:off x="4617720" y="1993392"/>
            <a:ext cx="1828800" cy="411480"/>
          </a:xfrm>
          <a:prstGeom prst="rect">
            <a:avLst/>
          </a:prstGeom>
          <a:noFill/>
          <a:ln/>
        </p:spPr>
        <p:txBody>
          <a:bodyPr wrap="square" rtlCol="0" anchor="ctr"/>
          <a:lstStyle/>
          <a:p>
            <a:pPr algn="ctr" indent="0" marL="0">
              <a:buNone/>
            </a:pPr>
            <a:r>
              <a:rPr lang="en-US" sz="1400" b="1" dirty="0">
                <a:solidFill>
                  <a:srgbClr val="FFFFFF"/>
                </a:solidFill>
              </a:rPr>
              <a:t>Guardar</a:t>
            </a:r>
            <a:endParaRPr lang="en-US" sz="1400" dirty="0"/>
          </a:p>
        </p:txBody>
      </p:sp>
      <p:sp>
        <p:nvSpPr>
          <p:cNvPr id="22" name="Shape 20"/>
          <p:cNvSpPr/>
          <p:nvPr/>
        </p:nvSpPr>
        <p:spPr>
          <a:xfrm>
            <a:off x="6446520" y="1874520"/>
            <a:ext cx="274320" cy="73152"/>
          </a:xfrm>
          <a:prstGeom prst="rect">
            <a:avLst/>
          </a:prstGeom>
          <a:solidFill>
            <a:srgbClr val="E94560"/>
          </a:solidFill>
          <a:ln w="12700">
            <a:solidFill>
              <a:srgbClr val="E94560"/>
            </a:solidFill>
            <a:prstDash val="solid"/>
          </a:ln>
        </p:spPr>
      </p:sp>
      <p:sp>
        <p:nvSpPr>
          <p:cNvPr id="23" name="Shape 21"/>
          <p:cNvSpPr/>
          <p:nvPr/>
        </p:nvSpPr>
        <p:spPr>
          <a:xfrm>
            <a:off x="4617720" y="3063240"/>
            <a:ext cx="1828800" cy="178308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24" name="Text 22"/>
          <p:cNvSpPr/>
          <p:nvPr/>
        </p:nvSpPr>
        <p:spPr>
          <a:xfrm>
            <a:off x="4709160" y="3154680"/>
            <a:ext cx="1645920" cy="1600200"/>
          </a:xfrm>
          <a:prstGeom prst="rect">
            <a:avLst/>
          </a:prstGeom>
          <a:noFill/>
          <a:ln/>
        </p:spPr>
        <p:txBody>
          <a:bodyPr wrap="square" rtlCol="0" anchor="t"/>
          <a:lstStyle/>
          <a:p>
            <a:pPr algn="l" indent="0" marL="0">
              <a:buNone/>
            </a:pPr>
            <a:r>
              <a:rPr lang="en-US" sz="1100" dirty="0">
                <a:solidFill>
                  <a:srgbClr val="0D1B2A"/>
                </a:solidFill>
              </a:rPr>
              <a:t>Los datos se guardan</a:t>
            </a:r>
            <a:endParaRPr lang="en-US" sz="1100" dirty="0"/>
          </a:p>
          <a:p>
            <a:pPr algn="l" indent="0" marL="0">
              <a:buNone/>
            </a:pPr>
            <a:r>
              <a:rPr lang="en-US" sz="1100" dirty="0">
                <a:solidFill>
                  <a:srgbClr val="0D1B2A"/>
                </a:solidFill>
              </a:rPr>
              <a:t>en PostgreSQL</a:t>
            </a:r>
            <a:endParaRPr lang="en-US" sz="1100" dirty="0"/>
          </a:p>
          <a:p>
            <a:pPr algn="l" indent="0" marL="0">
              <a:buNone/>
            </a:pPr>
            <a:r>
              <a:rPr lang="en-US" sz="1100" dirty="0">
                <a:solidFill>
                  <a:srgbClr val="0D1B2A"/>
                </a:solidFill>
              </a:rPr>
              <a:t>y en un archivo CSV</a:t>
            </a:r>
            <a:endParaRPr lang="en-US" sz="1100" dirty="0"/>
          </a:p>
        </p:txBody>
      </p:sp>
      <p:sp>
        <p:nvSpPr>
          <p:cNvPr id="25" name="Shape 23"/>
          <p:cNvSpPr/>
          <p:nvPr/>
        </p:nvSpPr>
        <p:spPr>
          <a:xfrm>
            <a:off x="6720840" y="1005840"/>
            <a:ext cx="1828800" cy="1920240"/>
          </a:xfrm>
          <a:prstGeom prst="rect">
            <a:avLst/>
          </a:prstGeom>
          <a:solidFill>
            <a:srgbClr val="E94560"/>
          </a:solidFill>
          <a:ln w="12700">
            <a:solidFill>
              <a:srgbClr val="E94560"/>
            </a:solidFill>
            <a:prstDash val="solid"/>
          </a:ln>
          <a:effectLst>
            <a:outerShdw sx="100000" sy="100000" kx="0" ky="0" algn="bl" rotWithShape="0" blurRad="101600" dist="38100" dir="8100000">
              <a:srgbClr val="000000">
                <a:alpha val="12000"/>
              </a:srgbClr>
            </a:outerShdw>
          </a:effectLst>
        </p:spPr>
      </p:sp>
      <p:sp>
        <p:nvSpPr>
          <p:cNvPr id="26" name="Text 24"/>
          <p:cNvSpPr/>
          <p:nvPr/>
        </p:nvSpPr>
        <p:spPr>
          <a:xfrm>
            <a:off x="6720840" y="1024128"/>
            <a:ext cx="1828800" cy="502920"/>
          </a:xfrm>
          <a:prstGeom prst="rect">
            <a:avLst/>
          </a:prstGeom>
          <a:noFill/>
          <a:ln/>
        </p:spPr>
        <p:txBody>
          <a:bodyPr wrap="square" rtlCol="0" anchor="ctr"/>
          <a:lstStyle/>
          <a:p>
            <a:pPr algn="ctr" indent="0" marL="0">
              <a:buNone/>
            </a:pPr>
            <a:r>
              <a:rPr lang="en-US" sz="2800" b="1" dirty="0">
                <a:solidFill>
                  <a:srgbClr val="FFFFFF"/>
                </a:solidFill>
              </a:rPr>
              <a:t>4</a:t>
            </a:r>
            <a:endParaRPr lang="en-US" sz="2800" dirty="0"/>
          </a:p>
        </p:txBody>
      </p:sp>
      <p:sp>
        <p:nvSpPr>
          <p:cNvPr id="27" name="Text 25"/>
          <p:cNvSpPr/>
          <p:nvPr/>
        </p:nvSpPr>
        <p:spPr>
          <a:xfrm>
            <a:off x="6720840" y="1463040"/>
            <a:ext cx="182880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8" name="Text 26"/>
          <p:cNvSpPr/>
          <p:nvPr/>
        </p:nvSpPr>
        <p:spPr>
          <a:xfrm>
            <a:off x="6720840" y="1993392"/>
            <a:ext cx="1828800" cy="411480"/>
          </a:xfrm>
          <a:prstGeom prst="rect">
            <a:avLst/>
          </a:prstGeom>
          <a:noFill/>
          <a:ln/>
        </p:spPr>
        <p:txBody>
          <a:bodyPr wrap="square" rtlCol="0" anchor="ctr"/>
          <a:lstStyle/>
          <a:p>
            <a:pPr algn="ctr" indent="0" marL="0">
              <a:buNone/>
            </a:pPr>
            <a:r>
              <a:rPr lang="en-US" sz="1400" b="1" dirty="0">
                <a:solidFill>
                  <a:srgbClr val="FFFFFF"/>
                </a:solidFill>
              </a:rPr>
              <a:t>Visualizar</a:t>
            </a:r>
            <a:endParaRPr lang="en-US" sz="1400" dirty="0"/>
          </a:p>
        </p:txBody>
      </p:sp>
      <p:sp>
        <p:nvSpPr>
          <p:cNvPr id="29" name="Shape 27"/>
          <p:cNvSpPr/>
          <p:nvPr/>
        </p:nvSpPr>
        <p:spPr>
          <a:xfrm>
            <a:off x="6720840" y="3063240"/>
            <a:ext cx="1828800" cy="178308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30" name="Text 28"/>
          <p:cNvSpPr/>
          <p:nvPr/>
        </p:nvSpPr>
        <p:spPr>
          <a:xfrm>
            <a:off x="6812280" y="3154680"/>
            <a:ext cx="1645920" cy="1600200"/>
          </a:xfrm>
          <a:prstGeom prst="rect">
            <a:avLst/>
          </a:prstGeom>
          <a:noFill/>
          <a:ln/>
        </p:spPr>
        <p:txBody>
          <a:bodyPr wrap="square" rtlCol="0" anchor="t"/>
          <a:lstStyle/>
          <a:p>
            <a:pPr algn="l" indent="0" marL="0">
              <a:buNone/>
            </a:pPr>
            <a:r>
              <a:rPr lang="en-US" sz="1100" dirty="0">
                <a:solidFill>
                  <a:srgbClr val="0D1B2A"/>
                </a:solidFill>
              </a:rPr>
              <a:t>Streamlit muestra</a:t>
            </a:r>
            <a:endParaRPr lang="en-US" sz="1100" dirty="0"/>
          </a:p>
          <a:p>
            <a:pPr algn="l" indent="0" marL="0">
              <a:buNone/>
            </a:pPr>
            <a:r>
              <a:rPr lang="en-US" sz="1100" dirty="0">
                <a:solidFill>
                  <a:srgbClr val="0D1B2A"/>
                </a:solidFill>
              </a:rPr>
              <a:t>todo en gráficas</a:t>
            </a:r>
            <a:endParaRPr lang="en-US" sz="1100" dirty="0"/>
          </a:p>
          <a:p>
            <a:pPr algn="l" indent="0" marL="0">
              <a:buNone/>
            </a:pPr>
            <a:r>
              <a:rPr lang="en-US" sz="1100" dirty="0">
                <a:solidFill>
                  <a:srgbClr val="0D1B2A"/>
                </a:solidFill>
              </a:rPr>
              <a:t>interactivas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457200" y="91440"/>
            <a:ext cx="8229600" cy="594360"/>
          </a:xfrm>
          <a:prstGeom prst="rect">
            <a:avLst/>
          </a:prstGeom>
          <a:noFill/>
          <a:ln/>
        </p:spPr>
        <p:txBody>
          <a:bodyPr wrap="square" rtlCol="0" anchor="ctr"/>
          <a:lstStyle/>
          <a:p>
            <a:pPr indent="0" marL="0">
              <a:buNone/>
            </a:pPr>
            <a:r>
              <a:rPr lang="en-US" sz="2200" b="1" dirty="0">
                <a:solidFill>
                  <a:srgbClr val="FFFFFF"/>
                </a:solidFill>
              </a:rPr>
              <a:t>¿QUÉ PREDICEN LOS MODELOS?</a:t>
            </a:r>
            <a:endParaRPr lang="en-US" sz="2200" dirty="0"/>
          </a:p>
        </p:txBody>
      </p:sp>
      <p:sp>
        <p:nvSpPr>
          <p:cNvPr id="4" name="Shape 2"/>
          <p:cNvSpPr/>
          <p:nvPr/>
        </p:nvSpPr>
        <p:spPr>
          <a:xfrm>
            <a:off x="256032" y="914400"/>
            <a:ext cx="2743200" cy="384048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56032" y="914400"/>
            <a:ext cx="2743200" cy="502920"/>
          </a:xfrm>
          <a:prstGeom prst="rect">
            <a:avLst/>
          </a:prstGeom>
          <a:solidFill>
            <a:srgbClr val="117A65"/>
          </a:solidFill>
          <a:ln w="12700">
            <a:solidFill>
              <a:srgbClr val="117A65"/>
            </a:solidFill>
            <a:prstDash val="solid"/>
          </a:ln>
        </p:spPr>
      </p:sp>
      <p:sp>
        <p:nvSpPr>
          <p:cNvPr id="6" name="Text 4"/>
          <p:cNvSpPr/>
          <p:nvPr/>
        </p:nvSpPr>
        <p:spPr>
          <a:xfrm>
            <a:off x="347472" y="941832"/>
            <a:ext cx="2560320" cy="457200"/>
          </a:xfrm>
          <a:prstGeom prst="rect">
            <a:avLst/>
          </a:prstGeom>
          <a:noFill/>
          <a:ln/>
        </p:spPr>
        <p:txBody>
          <a:bodyPr wrap="square" rtlCol="0" anchor="ctr"/>
          <a:lstStyle/>
          <a:p>
            <a:pPr indent="0" marL="0">
              <a:buNone/>
            </a:pPr>
            <a:r>
              <a:rPr lang="en-US" sz="1300" b="1" dirty="0">
                <a:solidFill>
                  <a:srgbClr val="FFFFFF"/>
                </a:solidFill>
              </a:rPr>
              <a:t>01  📈  Línea de tendencia</a:t>
            </a:r>
            <a:endParaRPr lang="en-US" sz="1300" dirty="0"/>
          </a:p>
        </p:txBody>
      </p:sp>
      <p:sp>
        <p:nvSpPr>
          <p:cNvPr id="7" name="Text 5"/>
          <p:cNvSpPr/>
          <p:nvPr/>
        </p:nvSpPr>
        <p:spPr>
          <a:xfrm>
            <a:off x="365760" y="1481328"/>
            <a:ext cx="2523744" cy="347472"/>
          </a:xfrm>
          <a:prstGeom prst="rect">
            <a:avLst/>
          </a:prstGeom>
          <a:noFill/>
          <a:ln/>
        </p:spPr>
        <p:txBody>
          <a:bodyPr wrap="square" rtlCol="0" anchor="ctr"/>
          <a:lstStyle/>
          <a:p>
            <a:pPr indent="0" marL="0">
              <a:buNone/>
            </a:pPr>
            <a:r>
              <a:rPr lang="en-US" sz="1000" i="1" dirty="0">
                <a:solidFill>
                  <a:srgbClr val="7F8C8D"/>
                </a:solidFill>
              </a:rPr>
              <a:t>(Regresión Lineal)</a:t>
            </a:r>
            <a:endParaRPr lang="en-US" sz="1000" dirty="0"/>
          </a:p>
        </p:txBody>
      </p:sp>
      <p:sp>
        <p:nvSpPr>
          <p:cNvPr id="8" name="Text 6"/>
          <p:cNvSpPr/>
          <p:nvPr/>
        </p:nvSpPr>
        <p:spPr>
          <a:xfrm>
            <a:off x="365760" y="1828800"/>
            <a:ext cx="2523744" cy="594360"/>
          </a:xfrm>
          <a:prstGeom prst="rect">
            <a:avLst/>
          </a:prstGeom>
          <a:noFill/>
          <a:ln/>
        </p:spPr>
        <p:txBody>
          <a:bodyPr wrap="square" rtlCol="0" anchor="ctr"/>
          <a:lstStyle/>
          <a:p>
            <a:pPr indent="0" marL="0">
              <a:buNone/>
            </a:pPr>
            <a:r>
              <a:rPr lang="en-US" sz="1200" b="1" dirty="0">
                <a:solidFill>
                  <a:srgbClr val="117A65"/>
                </a:solidFill>
              </a:rPr>
              <a:t>¿Cuánto va a crecer el PIB de Colombia?</a:t>
            </a:r>
            <a:endParaRPr lang="en-US" sz="1200" dirty="0"/>
          </a:p>
        </p:txBody>
      </p:sp>
      <p:sp>
        <p:nvSpPr>
          <p:cNvPr id="9" name="Text 7"/>
          <p:cNvSpPr/>
          <p:nvPr/>
        </p:nvSpPr>
        <p:spPr>
          <a:xfrm>
            <a:off x="365760" y="2487168"/>
            <a:ext cx="2523744" cy="2103120"/>
          </a:xfrm>
          <a:prstGeom prst="rect">
            <a:avLst/>
          </a:prstGeom>
          <a:noFill/>
          <a:ln/>
        </p:spPr>
        <p:txBody>
          <a:bodyPr wrap="square" rtlCol="0" anchor="ctr"/>
          <a:lstStyle/>
          <a:p>
            <a:pPr marL="342900" indent="-342900">
              <a:spcAft>
                <a:spcPts val="600"/>
              </a:spcAft>
              <a:buSzPct val="100000"/>
              <a:buChar char="•"/>
            </a:pPr>
            <a:r>
              <a:rPr lang="en-US" sz="1100" dirty="0">
                <a:solidFill>
                  <a:srgbClr val="0D1B2A"/>
                </a:solidFill>
              </a:rPr>
              <a:t>Usa el historial de 24 años</a:t>
            </a:r>
            <a:endParaRPr lang="en-US" sz="1100" dirty="0"/>
          </a:p>
          <a:p>
            <a:pPr marL="342900" indent="-342900">
              <a:spcAft>
                <a:spcPts val="600"/>
              </a:spcAft>
              <a:buSzPct val="100000"/>
              <a:buChar char="•"/>
            </a:pPr>
            <a:r>
              <a:rPr lang="en-US" sz="1100" dirty="0">
                <a:solidFill>
                  <a:srgbClr val="0D1B2A"/>
                </a:solidFill>
              </a:rPr>
              <a:t>Predice los años 2024, 2025, 2026 y 2027</a:t>
            </a:r>
            <a:endParaRPr lang="en-US" sz="1100" dirty="0"/>
          </a:p>
          <a:p>
            <a:pPr marL="342900" indent="-342900">
              <a:spcAft>
                <a:spcPts val="600"/>
              </a:spcAft>
              <a:buSzPct val="100000"/>
              <a:buChar char="•"/>
            </a:pPr>
            <a:r>
              <a:rPr lang="en-US" sz="1100" dirty="0">
                <a:solidFill>
                  <a:srgbClr val="0D1B2A"/>
                </a:solidFill>
              </a:rPr>
              <a:t>Como extrapolar una línea en una gráfica</a:t>
            </a:r>
            <a:endParaRPr lang="en-US" sz="1100" dirty="0"/>
          </a:p>
        </p:txBody>
      </p:sp>
      <p:sp>
        <p:nvSpPr>
          <p:cNvPr id="10" name="Shape 8"/>
          <p:cNvSpPr/>
          <p:nvPr/>
        </p:nvSpPr>
        <p:spPr>
          <a:xfrm>
            <a:off x="3163824" y="914400"/>
            <a:ext cx="2743200" cy="384048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163824" y="914400"/>
            <a:ext cx="2743200" cy="502920"/>
          </a:xfrm>
          <a:prstGeom prst="rect">
            <a:avLst/>
          </a:prstGeom>
          <a:solidFill>
            <a:srgbClr val="1B4F72"/>
          </a:solidFill>
          <a:ln w="12700">
            <a:solidFill>
              <a:srgbClr val="1B4F72"/>
            </a:solidFill>
            <a:prstDash val="solid"/>
          </a:ln>
        </p:spPr>
      </p:sp>
      <p:sp>
        <p:nvSpPr>
          <p:cNvPr id="12" name="Text 10"/>
          <p:cNvSpPr/>
          <p:nvPr/>
        </p:nvSpPr>
        <p:spPr>
          <a:xfrm>
            <a:off x="3255264" y="941832"/>
            <a:ext cx="2560320" cy="457200"/>
          </a:xfrm>
          <a:prstGeom prst="rect">
            <a:avLst/>
          </a:prstGeom>
          <a:noFill/>
          <a:ln/>
        </p:spPr>
        <p:txBody>
          <a:bodyPr wrap="square" rtlCol="0" anchor="ctr"/>
          <a:lstStyle/>
          <a:p>
            <a:pPr indent="0" marL="0">
              <a:buNone/>
            </a:pPr>
            <a:r>
              <a:rPr lang="en-US" sz="1300" b="1" dirty="0">
                <a:solidFill>
                  <a:srgbClr val="FFFFFF"/>
                </a:solidFill>
              </a:rPr>
              <a:t>02  🌲  Árbol de decisiones</a:t>
            </a:r>
            <a:endParaRPr lang="en-US" sz="1300" dirty="0"/>
          </a:p>
        </p:txBody>
      </p:sp>
      <p:sp>
        <p:nvSpPr>
          <p:cNvPr id="13" name="Text 11"/>
          <p:cNvSpPr/>
          <p:nvPr/>
        </p:nvSpPr>
        <p:spPr>
          <a:xfrm>
            <a:off x="3273552" y="1481328"/>
            <a:ext cx="2523744" cy="347472"/>
          </a:xfrm>
          <a:prstGeom prst="rect">
            <a:avLst/>
          </a:prstGeom>
          <a:noFill/>
          <a:ln/>
        </p:spPr>
        <p:txBody>
          <a:bodyPr wrap="square" rtlCol="0" anchor="ctr"/>
          <a:lstStyle/>
          <a:p>
            <a:pPr indent="0" marL="0">
              <a:buNone/>
            </a:pPr>
            <a:r>
              <a:rPr lang="en-US" sz="1000" i="1" dirty="0">
                <a:solidFill>
                  <a:srgbClr val="7F8C8D"/>
                </a:solidFill>
              </a:rPr>
              <a:t>(Random Forest)</a:t>
            </a:r>
            <a:endParaRPr lang="en-US" sz="1000" dirty="0"/>
          </a:p>
        </p:txBody>
      </p:sp>
      <p:sp>
        <p:nvSpPr>
          <p:cNvPr id="14" name="Text 12"/>
          <p:cNvSpPr/>
          <p:nvPr/>
        </p:nvSpPr>
        <p:spPr>
          <a:xfrm>
            <a:off x="3273552" y="1828800"/>
            <a:ext cx="2523744" cy="594360"/>
          </a:xfrm>
          <a:prstGeom prst="rect">
            <a:avLst/>
          </a:prstGeom>
          <a:noFill/>
          <a:ln/>
        </p:spPr>
        <p:txBody>
          <a:bodyPr wrap="square" rtlCol="0" anchor="ctr"/>
          <a:lstStyle/>
          <a:p>
            <a:pPr indent="0" marL="0">
              <a:buNone/>
            </a:pPr>
            <a:r>
              <a:rPr lang="en-US" sz="1200" b="1" dirty="0">
                <a:solidFill>
                  <a:srgbClr val="1B4F72"/>
                </a:solidFill>
              </a:rPr>
              <a:t>¿Qué factores afectan más el crecimiento?</a:t>
            </a:r>
            <a:endParaRPr lang="en-US" sz="1200" dirty="0"/>
          </a:p>
        </p:txBody>
      </p:sp>
      <p:sp>
        <p:nvSpPr>
          <p:cNvPr id="15" name="Text 13"/>
          <p:cNvSpPr/>
          <p:nvPr/>
        </p:nvSpPr>
        <p:spPr>
          <a:xfrm>
            <a:off x="3273552" y="2487168"/>
            <a:ext cx="2523744" cy="2103120"/>
          </a:xfrm>
          <a:prstGeom prst="rect">
            <a:avLst/>
          </a:prstGeom>
          <a:noFill/>
          <a:ln/>
        </p:spPr>
        <p:txBody>
          <a:bodyPr wrap="square" rtlCol="0" anchor="ctr"/>
          <a:lstStyle/>
          <a:p>
            <a:pPr marL="342900" indent="-342900">
              <a:spcAft>
                <a:spcPts val="600"/>
              </a:spcAft>
              <a:buSzPct val="100000"/>
              <a:buChar char="•"/>
            </a:pPr>
            <a:r>
              <a:rPr lang="en-US" sz="1100" dirty="0">
                <a:solidFill>
                  <a:srgbClr val="0D1B2A"/>
                </a:solidFill>
              </a:rPr>
              <a:t>Usa 100 árboles de decisión a la vez</a:t>
            </a:r>
            <a:endParaRPr lang="en-US" sz="1100" dirty="0"/>
          </a:p>
          <a:p>
            <a:pPr marL="342900" indent="-342900">
              <a:spcAft>
                <a:spcPts val="600"/>
              </a:spcAft>
              <a:buSzPct val="100000"/>
              <a:buChar char="•"/>
            </a:pPr>
            <a:r>
              <a:rPr lang="en-US" sz="1100" dirty="0">
                <a:solidFill>
                  <a:srgbClr val="0D1B2A"/>
                </a:solidFill>
              </a:rPr>
              <a:t>Evalúa inflación, desempleo, exportaciones...</a:t>
            </a:r>
            <a:endParaRPr lang="en-US" sz="1100" dirty="0"/>
          </a:p>
          <a:p>
            <a:pPr marL="342900" indent="-342900">
              <a:spcAft>
                <a:spcPts val="600"/>
              </a:spcAft>
              <a:buSzPct val="100000"/>
              <a:buChar char="•"/>
            </a:pPr>
            <a:r>
              <a:rPr lang="en-US" sz="1100" dirty="0">
                <a:solidFill>
                  <a:srgbClr val="0D1B2A"/>
                </a:solidFill>
              </a:rPr>
              <a:t>Dice cuál variable importa más</a:t>
            </a:r>
            <a:endParaRPr lang="en-US" sz="1100" dirty="0"/>
          </a:p>
        </p:txBody>
      </p:sp>
      <p:sp>
        <p:nvSpPr>
          <p:cNvPr id="16" name="Shape 14"/>
          <p:cNvSpPr/>
          <p:nvPr/>
        </p:nvSpPr>
        <p:spPr>
          <a:xfrm>
            <a:off x="6071616" y="914400"/>
            <a:ext cx="2743200" cy="384048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6071616" y="914400"/>
            <a:ext cx="2743200" cy="502920"/>
          </a:xfrm>
          <a:prstGeom prst="rect">
            <a:avLst/>
          </a:prstGeom>
          <a:solidFill>
            <a:srgbClr val="E94560"/>
          </a:solidFill>
          <a:ln w="12700">
            <a:solidFill>
              <a:srgbClr val="E94560"/>
            </a:solidFill>
            <a:prstDash val="solid"/>
          </a:ln>
        </p:spPr>
      </p:sp>
      <p:sp>
        <p:nvSpPr>
          <p:cNvPr id="18" name="Text 16"/>
          <p:cNvSpPr/>
          <p:nvPr/>
        </p:nvSpPr>
        <p:spPr>
          <a:xfrm>
            <a:off x="6163056" y="941832"/>
            <a:ext cx="2560320" cy="457200"/>
          </a:xfrm>
          <a:prstGeom prst="rect">
            <a:avLst/>
          </a:prstGeom>
          <a:noFill/>
          <a:ln/>
        </p:spPr>
        <p:txBody>
          <a:bodyPr wrap="square" rtlCol="0" anchor="ctr"/>
          <a:lstStyle/>
          <a:p>
            <a:pPr indent="0" marL="0">
              <a:buNone/>
            </a:pPr>
            <a:r>
              <a:rPr lang="en-US" sz="1300" b="1" dirty="0">
                <a:solidFill>
                  <a:srgbClr val="FFFFFF"/>
                </a:solidFill>
              </a:rPr>
              <a:t>03  🔵  Agrupación de países</a:t>
            </a:r>
            <a:endParaRPr lang="en-US" sz="1300" dirty="0"/>
          </a:p>
        </p:txBody>
      </p:sp>
      <p:sp>
        <p:nvSpPr>
          <p:cNvPr id="19" name="Text 17"/>
          <p:cNvSpPr/>
          <p:nvPr/>
        </p:nvSpPr>
        <p:spPr>
          <a:xfrm>
            <a:off x="6181344" y="1481328"/>
            <a:ext cx="2523744" cy="347472"/>
          </a:xfrm>
          <a:prstGeom prst="rect">
            <a:avLst/>
          </a:prstGeom>
          <a:noFill/>
          <a:ln/>
        </p:spPr>
        <p:txBody>
          <a:bodyPr wrap="square" rtlCol="0" anchor="ctr"/>
          <a:lstStyle/>
          <a:p>
            <a:pPr indent="0" marL="0">
              <a:buNone/>
            </a:pPr>
            <a:r>
              <a:rPr lang="en-US" sz="1000" i="1" dirty="0">
                <a:solidFill>
                  <a:srgbClr val="7F8C8D"/>
                </a:solidFill>
              </a:rPr>
              <a:t>(K-Means Clustering)</a:t>
            </a:r>
            <a:endParaRPr lang="en-US" sz="1000" dirty="0"/>
          </a:p>
        </p:txBody>
      </p:sp>
      <p:sp>
        <p:nvSpPr>
          <p:cNvPr id="20" name="Text 18"/>
          <p:cNvSpPr/>
          <p:nvPr/>
        </p:nvSpPr>
        <p:spPr>
          <a:xfrm>
            <a:off x="6181344" y="1828800"/>
            <a:ext cx="2523744" cy="594360"/>
          </a:xfrm>
          <a:prstGeom prst="rect">
            <a:avLst/>
          </a:prstGeom>
          <a:noFill/>
          <a:ln/>
        </p:spPr>
        <p:txBody>
          <a:bodyPr wrap="square" rtlCol="0" anchor="ctr"/>
          <a:lstStyle/>
          <a:p>
            <a:pPr indent="0" marL="0">
              <a:buNone/>
            </a:pPr>
            <a:r>
              <a:rPr lang="en-US" sz="1200" b="1" dirty="0">
                <a:solidFill>
                  <a:srgbClr val="E94560"/>
                </a:solidFill>
              </a:rPr>
              <a:t>¿Qué países se parecen a Colombia?</a:t>
            </a:r>
            <a:endParaRPr lang="en-US" sz="1200" dirty="0"/>
          </a:p>
        </p:txBody>
      </p:sp>
      <p:sp>
        <p:nvSpPr>
          <p:cNvPr id="21" name="Text 19"/>
          <p:cNvSpPr/>
          <p:nvPr/>
        </p:nvSpPr>
        <p:spPr>
          <a:xfrm>
            <a:off x="6181344" y="2487168"/>
            <a:ext cx="2523744" cy="2103120"/>
          </a:xfrm>
          <a:prstGeom prst="rect">
            <a:avLst/>
          </a:prstGeom>
          <a:noFill/>
          <a:ln/>
        </p:spPr>
        <p:txBody>
          <a:bodyPr wrap="square" rtlCol="0" anchor="ctr"/>
          <a:lstStyle/>
          <a:p>
            <a:pPr marL="342900" indent="-342900">
              <a:spcAft>
                <a:spcPts val="600"/>
              </a:spcAft>
              <a:buSzPct val="100000"/>
              <a:buChar char="•"/>
            </a:pPr>
            <a:r>
              <a:rPr lang="en-US" sz="1100" dirty="0">
                <a:solidFill>
                  <a:srgbClr val="0D1B2A"/>
                </a:solidFill>
              </a:rPr>
              <a:t>Agrupa los 7 países en 3 grupos</a:t>
            </a:r>
            <a:endParaRPr lang="en-US" sz="1100" dirty="0"/>
          </a:p>
          <a:p>
            <a:pPr marL="342900" indent="-342900">
              <a:spcAft>
                <a:spcPts val="600"/>
              </a:spcAft>
              <a:buSzPct val="100000"/>
              <a:buChar char="•"/>
            </a:pPr>
            <a:r>
              <a:rPr lang="en-US" sz="1100" dirty="0">
                <a:solidFill>
                  <a:srgbClr val="0D1B2A"/>
                </a:solidFill>
              </a:rPr>
              <a:t>Por nivel de ingresos y crecimiento</a:t>
            </a:r>
            <a:endParaRPr lang="en-US" sz="1100" dirty="0"/>
          </a:p>
          <a:p>
            <a:pPr marL="342900" indent="-342900">
              <a:spcAft>
                <a:spcPts val="600"/>
              </a:spcAft>
              <a:buSzPct val="100000"/>
              <a:buChar char="•"/>
            </a:pPr>
            <a:r>
              <a:rPr lang="en-US" sz="1100" dirty="0">
                <a:solidFill>
                  <a:srgbClr val="0D1B2A"/>
                </a:solidFill>
              </a:rPr>
              <a:t>Colombia queda en el grupo de ingreso medio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457200" y="91440"/>
            <a:ext cx="8229600" cy="594360"/>
          </a:xfrm>
          <a:prstGeom prst="rect">
            <a:avLst/>
          </a:prstGeom>
          <a:noFill/>
          <a:ln/>
        </p:spPr>
        <p:txBody>
          <a:bodyPr wrap="square" rtlCol="0" anchor="ctr"/>
          <a:lstStyle/>
          <a:p>
            <a:pPr indent="0" marL="0">
              <a:buNone/>
            </a:pPr>
            <a:r>
              <a:rPr lang="en-US" sz="2200" b="1" dirty="0">
                <a:solidFill>
                  <a:srgbClr val="FFFFFF"/>
                </a:solidFill>
              </a:rPr>
              <a:t>¿QUÉ TAN BUENOS SON LOS MODELOS?</a:t>
            </a:r>
            <a:endParaRPr lang="en-US" sz="2200" dirty="0"/>
          </a:p>
        </p:txBody>
      </p:sp>
      <p:sp>
        <p:nvSpPr>
          <p:cNvPr id="4" name="Shape 2"/>
          <p:cNvSpPr/>
          <p:nvPr/>
        </p:nvSpPr>
        <p:spPr>
          <a:xfrm>
            <a:off x="274320" y="914400"/>
            <a:ext cx="3931920" cy="1371600"/>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457200" y="987552"/>
            <a:ext cx="3566160" cy="411480"/>
          </a:xfrm>
          <a:prstGeom prst="rect">
            <a:avLst/>
          </a:prstGeom>
          <a:noFill/>
          <a:ln/>
        </p:spPr>
        <p:txBody>
          <a:bodyPr wrap="square" rtlCol="0" anchor="ctr"/>
          <a:lstStyle/>
          <a:p>
            <a:pPr indent="0" marL="0">
              <a:buNone/>
            </a:pPr>
            <a:r>
              <a:rPr lang="en-US" sz="1400" b="1" dirty="0">
                <a:solidFill>
                  <a:srgbClr val="117A65"/>
                </a:solidFill>
              </a:rPr>
              <a:t>¿Qué es R²?</a:t>
            </a:r>
            <a:endParaRPr lang="en-US" sz="1400" dirty="0"/>
          </a:p>
        </p:txBody>
      </p:sp>
      <p:sp>
        <p:nvSpPr>
          <p:cNvPr id="6" name="Text 4"/>
          <p:cNvSpPr/>
          <p:nvPr/>
        </p:nvSpPr>
        <p:spPr>
          <a:xfrm>
            <a:off x="457200" y="1389888"/>
            <a:ext cx="3566160" cy="731520"/>
          </a:xfrm>
          <a:prstGeom prst="rect">
            <a:avLst/>
          </a:prstGeom>
          <a:noFill/>
          <a:ln/>
        </p:spPr>
        <p:txBody>
          <a:bodyPr wrap="square" rtlCol="0" anchor="ctr"/>
          <a:lstStyle/>
          <a:p>
            <a:pPr indent="0" marL="0">
              <a:buNone/>
            </a:pPr>
            <a:r>
              <a:rPr lang="en-US" sz="1200" dirty="0">
                <a:solidFill>
                  <a:srgbClr val="FFFFFF"/>
                </a:solidFill>
              </a:rPr>
              <a:t>Es el puntaje del modelo. Va de 0 a 1.</a:t>
            </a:r>
            <a:endParaRPr lang="en-US" sz="1200" dirty="0"/>
          </a:p>
          <a:p>
            <a:pPr indent="0" marL="0">
              <a:buNone/>
            </a:pPr>
            <a:r>
              <a:rPr lang="en-US" sz="1200" dirty="0">
                <a:solidFill>
                  <a:srgbClr val="FFFFFF"/>
                </a:solidFill>
              </a:rPr>
              <a:t>Más cercano a 1 = el modelo predice mejor.</a:t>
            </a:r>
            <a:endParaRPr lang="en-US" sz="1200" dirty="0"/>
          </a:p>
        </p:txBody>
      </p:sp>
      <p:sp>
        <p:nvSpPr>
          <p:cNvPr id="7" name="Shape 5"/>
          <p:cNvSpPr/>
          <p:nvPr/>
        </p:nvSpPr>
        <p:spPr>
          <a:xfrm>
            <a:off x="4572000" y="914400"/>
            <a:ext cx="4206240" cy="1371600"/>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4754880" y="987552"/>
            <a:ext cx="3840480" cy="411480"/>
          </a:xfrm>
          <a:prstGeom prst="rect">
            <a:avLst/>
          </a:prstGeom>
          <a:noFill/>
          <a:ln/>
        </p:spPr>
        <p:txBody>
          <a:bodyPr wrap="square" rtlCol="0" anchor="ctr"/>
          <a:lstStyle/>
          <a:p>
            <a:pPr indent="0" marL="0">
              <a:buNone/>
            </a:pPr>
            <a:r>
              <a:rPr lang="en-US" sz="1400" b="1" dirty="0">
                <a:solidFill>
                  <a:srgbClr val="117A65"/>
                </a:solidFill>
              </a:rPr>
              <a:t>¿Qué es MAE / RMSE?</a:t>
            </a:r>
            <a:endParaRPr lang="en-US" sz="1400" dirty="0"/>
          </a:p>
        </p:txBody>
      </p:sp>
      <p:sp>
        <p:nvSpPr>
          <p:cNvPr id="9" name="Text 7"/>
          <p:cNvSpPr/>
          <p:nvPr/>
        </p:nvSpPr>
        <p:spPr>
          <a:xfrm>
            <a:off x="4754880" y="1389888"/>
            <a:ext cx="3840480" cy="731520"/>
          </a:xfrm>
          <a:prstGeom prst="rect">
            <a:avLst/>
          </a:prstGeom>
          <a:noFill/>
          <a:ln/>
        </p:spPr>
        <p:txBody>
          <a:bodyPr wrap="square" rtlCol="0" anchor="ctr"/>
          <a:lstStyle/>
          <a:p>
            <a:pPr indent="0" marL="0">
              <a:buNone/>
            </a:pPr>
            <a:r>
              <a:rPr lang="en-US" sz="1200" dirty="0">
                <a:solidFill>
                  <a:srgbClr val="FFFFFF"/>
                </a:solidFill>
              </a:rPr>
              <a:t>Es el margen de error promedio.</a:t>
            </a:r>
            <a:endParaRPr lang="en-US" sz="1200" dirty="0"/>
          </a:p>
          <a:p>
            <a:pPr indent="0" marL="0">
              <a:buNone/>
            </a:pPr>
            <a:r>
              <a:rPr lang="en-US" sz="1200" dirty="0">
                <a:solidFill>
                  <a:srgbClr val="FFFFFF"/>
                </a:solidFill>
              </a:rPr>
              <a:t>Menos error = modelo más preciso.</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2423160"/>
          <a:ext cx="8595360" cy="2423160"/>
        </p:xfrm>
        <a:graphic>
          <a:graphicData uri="http://schemas.openxmlformats.org/drawingml/2006/table">
            <a:tbl>
              <a:tblPr/>
              <a:tblGrid>
                <a:gridCol w="2148840"/>
                <a:gridCol w="2148840"/>
                <a:gridCol w="2148840"/>
                <a:gridCol w="2148840"/>
              </a:tblGrid>
              <a:tr h="548640">
                <a:tc>
                  <a:txBody>
                    <a:bodyPr/>
                    <a:lstStyle/>
                    <a:p>
                      <a:pPr algn="ctr" indent="0" marL="0">
                        <a:buNone/>
                      </a:pPr>
                      <a:r>
                        <a:rPr lang="en-US" sz="1200" b="1" dirty="0">
                          <a:solidFill>
                            <a:srgbClr val="FFFFFF"/>
                          </a:solidFill>
                        </a:rPr>
                        <a:t>Modelo</a:t>
                      </a:r>
                      <a:endParaRPr lang="en-US" sz="1200" dirty="0"/>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0D1B2A"/>
                    </a:solidFill>
                  </a:tcPr>
                </a:tc>
                <a:tc>
                  <a:txBody>
                    <a:bodyPr/>
                    <a:lstStyle/>
                    <a:p>
                      <a:pPr algn="ctr" indent="0" marL="0">
                        <a:buNone/>
                      </a:pPr>
                      <a:r>
                        <a:rPr lang="en-US" sz="1200" b="1" dirty="0">
                          <a:solidFill>
                            <a:srgbClr val="FFFFFF"/>
                          </a:solidFill>
                        </a:rPr>
                        <a:t>Puntaje (R²)</a:t>
                      </a:r>
                      <a:endParaRPr lang="en-US" sz="1200" dirty="0"/>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0D1B2A"/>
                    </a:solidFill>
                  </a:tcPr>
                </a:tc>
                <a:tc>
                  <a:txBody>
                    <a:bodyPr/>
                    <a:lstStyle/>
                    <a:p>
                      <a:pPr algn="ctr" indent="0" marL="0">
                        <a:buNone/>
                      </a:pPr>
                      <a:r>
                        <a:rPr lang="en-US" sz="1200" b="1" dirty="0">
                          <a:solidFill>
                            <a:srgbClr val="FFFFFF"/>
                          </a:solidFill>
                        </a:rPr>
                        <a:t>Error</a:t>
                      </a:r>
                      <a:endParaRPr lang="en-US" sz="1200" dirty="0"/>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0D1B2A"/>
                    </a:solidFill>
                  </a:tcPr>
                </a:tc>
                <a:tc>
                  <a:txBody>
                    <a:bodyPr/>
                    <a:lstStyle/>
                    <a:p>
                      <a:pPr algn="ctr" indent="0" marL="0">
                        <a:buNone/>
                      </a:pPr>
                      <a:r>
                        <a:rPr lang="en-US" sz="1200" b="1" dirty="0">
                          <a:solidFill>
                            <a:srgbClr val="FFFFFF"/>
                          </a:solidFill>
                        </a:rPr>
                        <a:t>¿Qué significa?</a:t>
                      </a:r>
                      <a:endParaRPr lang="en-US" sz="1200" dirty="0"/>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0D1B2A"/>
                    </a:solidFill>
                  </a:tcPr>
                </a:tc>
              </a:tr>
              <a:tr h="548640">
                <a:tc>
                  <a:txBody>
                    <a:bodyPr/>
                    <a:lstStyle/>
                    <a:p>
                      <a:pPr algn="l" indent="0" marL="0">
                        <a:buNone/>
                      </a:pPr>
                      <a:r>
                        <a:rPr lang="en-US" sz="1200" dirty="0">
                          <a:solidFill>
                            <a:srgbClr val="0D1B2A"/>
                          </a:solidFill>
                        </a:rPr>
                        <a:t>📈 Regresión Lineal</a:t>
                      </a:r>
                      <a:endParaRPr lang="en-US" sz="1200" dirty="0"/>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algn="l" indent="0" marL="0">
                        <a:buNone/>
                      </a:pPr>
                      <a:r>
                        <a:rPr lang="en-US" sz="1200" dirty="0">
                          <a:solidFill>
                            <a:srgbClr val="0D1B2A"/>
                          </a:solidFill>
                        </a:rPr>
                        <a:t>0.92  ✅  Excelente</a:t>
                      </a:r>
                      <a:endParaRPr lang="en-US" sz="1200" dirty="0"/>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algn="l" indent="0" marL="0">
                        <a:buNone/>
                      </a:pPr>
                      <a:r>
                        <a:rPr lang="en-US" sz="1200" dirty="0">
                          <a:solidFill>
                            <a:srgbClr val="0D1B2A"/>
                          </a:solidFill>
                        </a:rPr>
                        <a:t>~$450 USD</a:t>
                      </a:r>
                      <a:endParaRPr lang="en-US" sz="1200" dirty="0"/>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algn="l" indent="0" marL="0">
                        <a:buNone/>
                      </a:pPr>
                      <a:r>
                        <a:rPr lang="en-US" sz="1200" dirty="0">
                          <a:solidFill>
                            <a:srgbClr val="0D1B2A"/>
                          </a:solidFill>
                        </a:rPr>
                        <a:t>Predice el PIB con muy poco error</a:t>
                      </a:r>
                      <a:endParaRPr lang="en-US" sz="1200" dirty="0"/>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r>
              <a:tr h="548640">
                <a:tc>
                  <a:txBody>
                    <a:bodyPr/>
                    <a:lstStyle/>
                    <a:p>
                      <a:pPr algn="l" indent="0" marL="0">
                        <a:buNone/>
                      </a:pPr>
                      <a:r>
                        <a:rPr lang="en-US" sz="1200" dirty="0">
                          <a:solidFill>
                            <a:srgbClr val="0D1B2A"/>
                          </a:solidFill>
                        </a:rPr>
                        <a:t>🌲 Random Forest</a:t>
                      </a:r>
                      <a:endParaRPr lang="en-US" sz="1200" dirty="0"/>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algn="l" indent="0" marL="0">
                        <a:buNone/>
                      </a:pPr>
                      <a:r>
                        <a:rPr lang="en-US" sz="1200" dirty="0">
                          <a:solidFill>
                            <a:srgbClr val="0D1B2A"/>
                          </a:solidFill>
                        </a:rPr>
                        <a:t>0.78  ✅  Bueno</a:t>
                      </a:r>
                      <a:endParaRPr lang="en-US" sz="1200" dirty="0"/>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algn="l" indent="0" marL="0">
                        <a:buNone/>
                      </a:pPr>
                      <a:r>
                        <a:rPr lang="en-US" sz="1200" dirty="0">
                          <a:solidFill>
                            <a:srgbClr val="0D1B2A"/>
                          </a:solidFill>
                        </a:rPr>
                        <a:t>~1.8%</a:t>
                      </a:r>
                      <a:endParaRPr lang="en-US" sz="1200" dirty="0"/>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algn="l" indent="0" marL="0">
                        <a:buNone/>
                      </a:pPr>
                      <a:r>
                        <a:rPr lang="en-US" sz="1200" dirty="0">
                          <a:solidFill>
                            <a:srgbClr val="0D1B2A"/>
                          </a:solidFill>
                        </a:rPr>
                        <a:t>Predice el crecimiento bien</a:t>
                      </a:r>
                      <a:endParaRPr lang="en-US" sz="1200" dirty="0"/>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r>
              <a:tr h="548640">
                <a:tc>
                  <a:txBody>
                    <a:bodyPr/>
                    <a:lstStyle/>
                    <a:p>
                      <a:pPr algn="l" indent="0" marL="0">
                        <a:buNone/>
                      </a:pPr>
                      <a:r>
                        <a:rPr lang="en-US" sz="1200" dirty="0">
                          <a:solidFill>
                            <a:srgbClr val="0D1B2A"/>
                          </a:solidFill>
                        </a:rPr>
                        <a:t>🔵 K-Means</a:t>
                      </a:r>
                      <a:endParaRPr lang="en-US" sz="1200" dirty="0"/>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algn="l" indent="0" marL="0">
                        <a:buNone/>
                      </a:pPr>
                      <a:r>
                        <a:rPr lang="en-US" sz="1200" dirty="0">
                          <a:solidFill>
                            <a:srgbClr val="0D1B2A"/>
                          </a:solidFill>
                        </a:rPr>
                        <a:t>—</a:t>
                      </a:r>
                      <a:endParaRPr lang="en-US" sz="1200" dirty="0"/>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algn="l" indent="0" marL="0">
                        <a:buNone/>
                      </a:pPr>
                      <a:r>
                        <a:rPr lang="en-US" sz="1200" dirty="0">
                          <a:solidFill>
                            <a:srgbClr val="0D1B2A"/>
                          </a:solidFill>
                        </a:rPr>
                        <a:t>3 grupos</a:t>
                      </a:r>
                      <a:endParaRPr lang="en-US" sz="1200" dirty="0"/>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algn="l" indent="0" marL="0">
                        <a:buNone/>
                      </a:pPr>
                      <a:r>
                        <a:rPr lang="en-US" sz="1200" dirty="0">
                          <a:solidFill>
                            <a:srgbClr val="0D1B2A"/>
                          </a:solidFill>
                        </a:rPr>
                        <a:t>Colombia = grupo ingreso medio</a:t>
                      </a:r>
                      <a:endParaRPr lang="en-US" sz="1200" dirty="0"/>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457200" y="91440"/>
            <a:ext cx="8229600" cy="594360"/>
          </a:xfrm>
          <a:prstGeom prst="rect">
            <a:avLst/>
          </a:prstGeom>
          <a:noFill/>
          <a:ln/>
        </p:spPr>
        <p:txBody>
          <a:bodyPr wrap="square" rtlCol="0" anchor="ctr"/>
          <a:lstStyle/>
          <a:p>
            <a:pPr indent="0" marL="0">
              <a:buNone/>
            </a:pPr>
            <a:r>
              <a:rPr lang="en-US" sz="2200" b="1" dirty="0">
                <a:solidFill>
                  <a:srgbClr val="FFFFFF"/>
                </a:solidFill>
              </a:rPr>
              <a:t>¿QUÉ LOGRAMOS?</a:t>
            </a:r>
            <a:endParaRPr lang="en-US" sz="2200" dirty="0"/>
          </a:p>
        </p:txBody>
      </p:sp>
      <p:sp>
        <p:nvSpPr>
          <p:cNvPr id="4" name="Shape 2"/>
          <p:cNvSpPr/>
          <p:nvPr/>
        </p:nvSpPr>
        <p:spPr>
          <a:xfrm>
            <a:off x="274320" y="960120"/>
            <a:ext cx="1965960" cy="1463040"/>
          </a:xfrm>
          <a:prstGeom prst="rect">
            <a:avLst/>
          </a:prstGeom>
          <a:solidFill>
            <a:srgbClr val="117A65"/>
          </a:solidFill>
          <a:ln w="12700">
            <a:solidFill>
              <a:srgbClr val="117A65"/>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274320" y="1005840"/>
            <a:ext cx="1965960" cy="822960"/>
          </a:xfrm>
          <a:prstGeom prst="rect">
            <a:avLst/>
          </a:prstGeom>
          <a:noFill/>
          <a:ln/>
        </p:spPr>
        <p:txBody>
          <a:bodyPr wrap="square" rtlCol="0" anchor="ctr"/>
          <a:lstStyle/>
          <a:p>
            <a:pPr algn="ctr" indent="0" marL="0">
              <a:buNone/>
            </a:pPr>
            <a:r>
              <a:rPr lang="en-US" sz="4400" b="1" dirty="0">
                <a:solidFill>
                  <a:srgbClr val="FFFFFF"/>
                </a:solidFill>
              </a:rPr>
              <a:t>168</a:t>
            </a:r>
            <a:endParaRPr lang="en-US" sz="4400" dirty="0"/>
          </a:p>
        </p:txBody>
      </p:sp>
      <p:sp>
        <p:nvSpPr>
          <p:cNvPr id="6" name="Text 4"/>
          <p:cNvSpPr/>
          <p:nvPr/>
        </p:nvSpPr>
        <p:spPr>
          <a:xfrm>
            <a:off x="274320" y="1783080"/>
            <a:ext cx="1965960" cy="502920"/>
          </a:xfrm>
          <a:prstGeom prst="rect">
            <a:avLst/>
          </a:prstGeom>
          <a:noFill/>
          <a:ln/>
        </p:spPr>
        <p:txBody>
          <a:bodyPr wrap="square" rtlCol="0" anchor="ctr"/>
          <a:lstStyle/>
          <a:p>
            <a:pPr algn="ctr" indent="0" marL="0">
              <a:buNone/>
            </a:pPr>
            <a:r>
              <a:rPr lang="en-US" sz="1100" dirty="0">
                <a:solidFill>
                  <a:srgbClr val="FFFFFF"/>
                </a:solidFill>
              </a:rPr>
              <a:t>datos</a:t>
            </a:r>
            <a:endParaRPr lang="en-US" sz="1100" dirty="0"/>
          </a:p>
          <a:p>
            <a:pPr algn="ctr" indent="0" marL="0">
              <a:buNone/>
            </a:pPr>
            <a:r>
              <a:rPr lang="en-US" sz="1100" dirty="0">
                <a:solidFill>
                  <a:srgbClr val="FFFFFF"/>
                </a:solidFill>
              </a:rPr>
              <a:t>procesados</a:t>
            </a:r>
            <a:endParaRPr lang="en-US" sz="1100" dirty="0"/>
          </a:p>
        </p:txBody>
      </p:sp>
      <p:sp>
        <p:nvSpPr>
          <p:cNvPr id="7" name="Shape 5"/>
          <p:cNvSpPr/>
          <p:nvPr/>
        </p:nvSpPr>
        <p:spPr>
          <a:xfrm>
            <a:off x="2450592" y="960120"/>
            <a:ext cx="1965960" cy="1463040"/>
          </a:xfrm>
          <a:prstGeom prst="rect">
            <a:avLst/>
          </a:prstGeom>
          <a:solidFill>
            <a:srgbClr val="1B4F72"/>
          </a:solidFill>
          <a:ln w="12700">
            <a:solidFill>
              <a:srgbClr val="1B4F72"/>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2450592" y="1005840"/>
            <a:ext cx="1965960" cy="822960"/>
          </a:xfrm>
          <a:prstGeom prst="rect">
            <a:avLst/>
          </a:prstGeom>
          <a:noFill/>
          <a:ln/>
        </p:spPr>
        <p:txBody>
          <a:bodyPr wrap="square" rtlCol="0" anchor="ctr"/>
          <a:lstStyle/>
          <a:p>
            <a:pPr algn="ctr" indent="0" marL="0">
              <a:buNone/>
            </a:pPr>
            <a:r>
              <a:rPr lang="en-US" sz="4400" b="1" dirty="0">
                <a:solidFill>
                  <a:srgbClr val="FFFFFF"/>
                </a:solidFill>
              </a:rPr>
              <a:t>7</a:t>
            </a:r>
            <a:endParaRPr lang="en-US" sz="4400" dirty="0"/>
          </a:p>
        </p:txBody>
      </p:sp>
      <p:sp>
        <p:nvSpPr>
          <p:cNvPr id="9" name="Text 7"/>
          <p:cNvSpPr/>
          <p:nvPr/>
        </p:nvSpPr>
        <p:spPr>
          <a:xfrm>
            <a:off x="2450592" y="1783080"/>
            <a:ext cx="1965960" cy="502920"/>
          </a:xfrm>
          <a:prstGeom prst="rect">
            <a:avLst/>
          </a:prstGeom>
          <a:noFill/>
          <a:ln/>
        </p:spPr>
        <p:txBody>
          <a:bodyPr wrap="square" rtlCol="0" anchor="ctr"/>
          <a:lstStyle/>
          <a:p>
            <a:pPr algn="ctr" indent="0" marL="0">
              <a:buNone/>
            </a:pPr>
            <a:r>
              <a:rPr lang="en-US" sz="1100" dirty="0">
                <a:solidFill>
                  <a:srgbClr val="FFFFFF"/>
                </a:solidFill>
              </a:rPr>
              <a:t>países</a:t>
            </a:r>
            <a:endParaRPr lang="en-US" sz="1100" dirty="0"/>
          </a:p>
          <a:p>
            <a:pPr algn="ctr" indent="0" marL="0">
              <a:buNone/>
            </a:pPr>
            <a:r>
              <a:rPr lang="en-US" sz="1100" dirty="0">
                <a:solidFill>
                  <a:srgbClr val="FFFFFF"/>
                </a:solidFill>
              </a:rPr>
              <a:t>analizados</a:t>
            </a:r>
            <a:endParaRPr lang="en-US" sz="1100" dirty="0"/>
          </a:p>
        </p:txBody>
      </p:sp>
      <p:sp>
        <p:nvSpPr>
          <p:cNvPr id="10" name="Shape 8"/>
          <p:cNvSpPr/>
          <p:nvPr/>
        </p:nvSpPr>
        <p:spPr>
          <a:xfrm>
            <a:off x="4626864" y="960120"/>
            <a:ext cx="1965960" cy="1463040"/>
          </a:xfrm>
          <a:prstGeom prst="rect">
            <a:avLst/>
          </a:prstGeom>
          <a:solidFill>
            <a:srgbClr val="E94560"/>
          </a:solidFill>
          <a:ln w="12700">
            <a:solidFill>
              <a:srgbClr val="E94560"/>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4626864" y="1005840"/>
            <a:ext cx="1965960" cy="822960"/>
          </a:xfrm>
          <a:prstGeom prst="rect">
            <a:avLst/>
          </a:prstGeom>
          <a:noFill/>
          <a:ln/>
        </p:spPr>
        <p:txBody>
          <a:bodyPr wrap="square" rtlCol="0" anchor="ctr"/>
          <a:lstStyle/>
          <a:p>
            <a:pPr algn="ctr" indent="0" marL="0">
              <a:buNone/>
            </a:pPr>
            <a:r>
              <a:rPr lang="en-US" sz="4400" b="1" dirty="0">
                <a:solidFill>
                  <a:srgbClr val="FFFFFF"/>
                </a:solidFill>
              </a:rPr>
              <a:t>8</a:t>
            </a:r>
            <a:endParaRPr lang="en-US" sz="4400" dirty="0"/>
          </a:p>
        </p:txBody>
      </p:sp>
      <p:sp>
        <p:nvSpPr>
          <p:cNvPr id="12" name="Text 10"/>
          <p:cNvSpPr/>
          <p:nvPr/>
        </p:nvSpPr>
        <p:spPr>
          <a:xfrm>
            <a:off x="4626864" y="1783080"/>
            <a:ext cx="1965960" cy="502920"/>
          </a:xfrm>
          <a:prstGeom prst="rect">
            <a:avLst/>
          </a:prstGeom>
          <a:noFill/>
          <a:ln/>
        </p:spPr>
        <p:txBody>
          <a:bodyPr wrap="square" rtlCol="0" anchor="ctr"/>
          <a:lstStyle/>
          <a:p>
            <a:pPr algn="ctr" indent="0" marL="0">
              <a:buNone/>
            </a:pPr>
            <a:r>
              <a:rPr lang="en-US" sz="1100" dirty="0">
                <a:solidFill>
                  <a:srgbClr val="FFFFFF"/>
                </a:solidFill>
              </a:rPr>
              <a:t>indicadores</a:t>
            </a:r>
            <a:endParaRPr lang="en-US" sz="1100" dirty="0"/>
          </a:p>
          <a:p>
            <a:pPr algn="ctr" indent="0" marL="0">
              <a:buNone/>
            </a:pPr>
            <a:r>
              <a:rPr lang="en-US" sz="1100" dirty="0">
                <a:solidFill>
                  <a:srgbClr val="FFFFFF"/>
                </a:solidFill>
              </a:rPr>
              <a:t>económicos</a:t>
            </a:r>
            <a:endParaRPr lang="en-US" sz="1100" dirty="0"/>
          </a:p>
        </p:txBody>
      </p:sp>
      <p:sp>
        <p:nvSpPr>
          <p:cNvPr id="13" name="Shape 11"/>
          <p:cNvSpPr/>
          <p:nvPr/>
        </p:nvSpPr>
        <p:spPr>
          <a:xfrm>
            <a:off x="6803136" y="960120"/>
            <a:ext cx="1965960" cy="1463040"/>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6803136" y="1005840"/>
            <a:ext cx="1965960" cy="822960"/>
          </a:xfrm>
          <a:prstGeom prst="rect">
            <a:avLst/>
          </a:prstGeom>
          <a:noFill/>
          <a:ln/>
        </p:spPr>
        <p:txBody>
          <a:bodyPr wrap="square" rtlCol="0" anchor="ctr"/>
          <a:lstStyle/>
          <a:p>
            <a:pPr algn="ctr" indent="0" marL="0">
              <a:buNone/>
            </a:pPr>
            <a:r>
              <a:rPr lang="en-US" sz="4400" b="1" dirty="0">
                <a:solidFill>
                  <a:srgbClr val="FFFFFF"/>
                </a:solidFill>
              </a:rPr>
              <a:t>24</a:t>
            </a:r>
            <a:endParaRPr lang="en-US" sz="4400" dirty="0"/>
          </a:p>
        </p:txBody>
      </p:sp>
      <p:sp>
        <p:nvSpPr>
          <p:cNvPr id="15" name="Text 13"/>
          <p:cNvSpPr/>
          <p:nvPr/>
        </p:nvSpPr>
        <p:spPr>
          <a:xfrm>
            <a:off x="6803136" y="1783080"/>
            <a:ext cx="1965960" cy="502920"/>
          </a:xfrm>
          <a:prstGeom prst="rect">
            <a:avLst/>
          </a:prstGeom>
          <a:noFill/>
          <a:ln/>
        </p:spPr>
        <p:txBody>
          <a:bodyPr wrap="square" rtlCol="0" anchor="ctr"/>
          <a:lstStyle/>
          <a:p>
            <a:pPr algn="ctr" indent="0" marL="0">
              <a:buNone/>
            </a:pPr>
            <a:r>
              <a:rPr lang="en-US" sz="1100" dirty="0">
                <a:solidFill>
                  <a:srgbClr val="FFFFFF"/>
                </a:solidFill>
              </a:rPr>
              <a:t>años de</a:t>
            </a:r>
            <a:endParaRPr lang="en-US" sz="1100" dirty="0"/>
          </a:p>
          <a:p>
            <a:pPr algn="ctr" indent="0" marL="0">
              <a:buNone/>
            </a:pPr>
            <a:r>
              <a:rPr lang="en-US" sz="1100" dirty="0">
                <a:solidFill>
                  <a:srgbClr val="FFFFFF"/>
                </a:solidFill>
              </a:rPr>
              <a:t>historia</a:t>
            </a:r>
            <a:endParaRPr lang="en-US" sz="1100" dirty="0"/>
          </a:p>
        </p:txBody>
      </p:sp>
      <p:sp>
        <p:nvSpPr>
          <p:cNvPr id="16" name="Text 14"/>
          <p:cNvSpPr/>
          <p:nvPr/>
        </p:nvSpPr>
        <p:spPr>
          <a:xfrm>
            <a:off x="365760" y="2578608"/>
            <a:ext cx="8412480" cy="420624"/>
          </a:xfrm>
          <a:prstGeom prst="rect">
            <a:avLst/>
          </a:prstGeom>
          <a:noFill/>
          <a:ln/>
        </p:spPr>
        <p:txBody>
          <a:bodyPr wrap="square" rtlCol="0" anchor="ctr"/>
          <a:lstStyle/>
          <a:p>
            <a:pPr indent="0" marL="0">
              <a:buNone/>
            </a:pPr>
            <a:r>
              <a:rPr lang="en-US" sz="1200" dirty="0">
                <a:solidFill>
                  <a:srgbClr val="0D1B2A"/>
                </a:solidFill>
              </a:rPr>
              <a:t>✅  El script descarga y procesa los datos automáticamente — sin tocar nada a mano</a:t>
            </a:r>
            <a:endParaRPr lang="en-US" sz="1200" dirty="0"/>
          </a:p>
        </p:txBody>
      </p:sp>
      <p:sp>
        <p:nvSpPr>
          <p:cNvPr id="17" name="Text 15"/>
          <p:cNvSpPr/>
          <p:nvPr/>
        </p:nvSpPr>
        <p:spPr>
          <a:xfrm>
            <a:off x="365760" y="3054096"/>
            <a:ext cx="8412480" cy="420624"/>
          </a:xfrm>
          <a:prstGeom prst="rect">
            <a:avLst/>
          </a:prstGeom>
          <a:noFill/>
          <a:ln/>
        </p:spPr>
        <p:txBody>
          <a:bodyPr wrap="square" rtlCol="0" anchor="ctr"/>
          <a:lstStyle/>
          <a:p>
            <a:pPr indent="0" marL="0">
              <a:buNone/>
            </a:pPr>
            <a:r>
              <a:rPr lang="en-US" sz="1200" dirty="0">
                <a:solidFill>
                  <a:srgbClr val="0D1B2A"/>
                </a:solidFill>
              </a:rPr>
              <a:t>✅  El dashboard tiene 4 secciones con gráficas interactivas y filtros por país y año</a:t>
            </a:r>
            <a:endParaRPr lang="en-US" sz="1200" dirty="0"/>
          </a:p>
        </p:txBody>
      </p:sp>
      <p:sp>
        <p:nvSpPr>
          <p:cNvPr id="18" name="Text 16"/>
          <p:cNvSpPr/>
          <p:nvPr/>
        </p:nvSpPr>
        <p:spPr>
          <a:xfrm>
            <a:off x="365760" y="3529584"/>
            <a:ext cx="8412480" cy="420624"/>
          </a:xfrm>
          <a:prstGeom prst="rect">
            <a:avLst/>
          </a:prstGeom>
          <a:noFill/>
          <a:ln/>
        </p:spPr>
        <p:txBody>
          <a:bodyPr wrap="square" rtlCol="0" anchor="ctr"/>
          <a:lstStyle/>
          <a:p>
            <a:pPr indent="0" marL="0">
              <a:buNone/>
            </a:pPr>
            <a:r>
              <a:rPr lang="en-US" sz="1200" dirty="0">
                <a:solidFill>
                  <a:srgbClr val="0D1B2A"/>
                </a:solidFill>
              </a:rPr>
              <a:t>✅  Si no hay base de datos, el sistema usa el archivo CSV automáticamente</a:t>
            </a:r>
            <a:endParaRPr lang="en-US" sz="1200" dirty="0"/>
          </a:p>
        </p:txBody>
      </p:sp>
      <p:sp>
        <p:nvSpPr>
          <p:cNvPr id="19" name="Text 17"/>
          <p:cNvSpPr/>
          <p:nvPr/>
        </p:nvSpPr>
        <p:spPr>
          <a:xfrm>
            <a:off x="365760" y="4005072"/>
            <a:ext cx="8412480" cy="420624"/>
          </a:xfrm>
          <a:prstGeom prst="rect">
            <a:avLst/>
          </a:prstGeom>
          <a:noFill/>
          <a:ln/>
        </p:spPr>
        <p:txBody>
          <a:bodyPr wrap="square" rtlCol="0" anchor="ctr"/>
          <a:lstStyle/>
          <a:p>
            <a:pPr indent="0" marL="0">
              <a:buNone/>
            </a:pPr>
            <a:r>
              <a:rPr lang="en-US" sz="1200" dirty="0">
                <a:solidFill>
                  <a:srgbClr val="0D1B2A"/>
                </a:solidFill>
              </a:rPr>
              <a:t>✅  3 modelos de predicción funcionando con datos reales del Banco Mundial</a:t>
            </a:r>
            <a:endParaRPr lang="en-US" sz="1200" dirty="0"/>
          </a:p>
        </p:txBody>
      </p:sp>
      <p:sp>
        <p:nvSpPr>
          <p:cNvPr id="20" name="Text 18"/>
          <p:cNvSpPr/>
          <p:nvPr/>
        </p:nvSpPr>
        <p:spPr>
          <a:xfrm>
            <a:off x="365760" y="4480560"/>
            <a:ext cx="8412480" cy="420624"/>
          </a:xfrm>
          <a:prstGeom prst="rect">
            <a:avLst/>
          </a:prstGeom>
          <a:noFill/>
          <a:ln/>
        </p:spPr>
        <p:txBody>
          <a:bodyPr wrap="square" rtlCol="0" anchor="ctr"/>
          <a:lstStyle/>
          <a:p>
            <a:pPr indent="0" marL="0">
              <a:buNone/>
            </a:pPr>
            <a:r>
              <a:rPr lang="en-US" sz="1200" dirty="0">
                <a:solidFill>
                  <a:srgbClr val="0D1B2A"/>
                </a:solidFill>
              </a:rPr>
              <a:t>✅  Todo empaquetado en Docker para que cualquiera lo pueda correr fácil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457200" y="91440"/>
            <a:ext cx="8229600" cy="594360"/>
          </a:xfrm>
          <a:prstGeom prst="rect">
            <a:avLst/>
          </a:prstGeom>
          <a:noFill/>
          <a:ln/>
        </p:spPr>
        <p:txBody>
          <a:bodyPr wrap="square" rtlCol="0" anchor="ctr"/>
          <a:lstStyle/>
          <a:p>
            <a:pPr indent="0" marL="0">
              <a:buNone/>
            </a:pPr>
            <a:r>
              <a:rPr lang="en-US" sz="2200" b="1" dirty="0">
                <a:solidFill>
                  <a:srgbClr val="FFFFFF"/>
                </a:solidFill>
              </a:rPr>
              <a:t>¿QUÉ MEJORARÍA A FUTURO?</a:t>
            </a:r>
            <a:endParaRPr lang="en-US" sz="2200" dirty="0"/>
          </a:p>
        </p:txBody>
      </p:sp>
      <p:sp>
        <p:nvSpPr>
          <p:cNvPr id="4" name="Shape 2"/>
          <p:cNvSpPr/>
          <p:nvPr/>
        </p:nvSpPr>
        <p:spPr>
          <a:xfrm>
            <a:off x="274320" y="914400"/>
            <a:ext cx="4206240" cy="182880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74320" y="914400"/>
            <a:ext cx="64008" cy="1828800"/>
          </a:xfrm>
          <a:prstGeom prst="rect">
            <a:avLst/>
          </a:prstGeom>
          <a:solidFill>
            <a:srgbClr val="117A65"/>
          </a:solidFill>
          <a:ln w="12700">
            <a:solidFill>
              <a:srgbClr val="117A65"/>
            </a:solidFill>
            <a:prstDash val="solid"/>
          </a:ln>
        </p:spPr>
      </p:sp>
      <p:sp>
        <p:nvSpPr>
          <p:cNvPr id="6" name="Text 4"/>
          <p:cNvSpPr/>
          <p:nvPr/>
        </p:nvSpPr>
        <p:spPr>
          <a:xfrm>
            <a:off x="457200" y="1051560"/>
            <a:ext cx="3840480" cy="438912"/>
          </a:xfrm>
          <a:prstGeom prst="rect">
            <a:avLst/>
          </a:prstGeom>
          <a:noFill/>
          <a:ln/>
        </p:spPr>
        <p:txBody>
          <a:bodyPr wrap="square" rtlCol="0" anchor="ctr"/>
          <a:lstStyle/>
          <a:p>
            <a:pPr indent="0" marL="0">
              <a:buNone/>
            </a:pPr>
            <a:r>
              <a:rPr lang="en-US" sz="1500" b="1" dirty="0">
                <a:solidFill>
                  <a:srgbClr val="0D1B2A"/>
                </a:solidFill>
              </a:rPr>
              <a:t>🔄  01  Actualizar solos</a:t>
            </a:r>
            <a:endParaRPr lang="en-US" sz="1500" dirty="0"/>
          </a:p>
        </p:txBody>
      </p:sp>
      <p:sp>
        <p:nvSpPr>
          <p:cNvPr id="7" name="Text 5"/>
          <p:cNvSpPr/>
          <p:nvPr/>
        </p:nvSpPr>
        <p:spPr>
          <a:xfrm>
            <a:off x="457200" y="1536192"/>
            <a:ext cx="3840480" cy="1005840"/>
          </a:xfrm>
          <a:prstGeom prst="rect">
            <a:avLst/>
          </a:prstGeom>
          <a:noFill/>
          <a:ln/>
        </p:spPr>
        <p:txBody>
          <a:bodyPr wrap="square" rtlCol="0" anchor="ctr"/>
          <a:lstStyle/>
          <a:p>
            <a:pPr indent="0" marL="0">
              <a:buNone/>
            </a:pPr>
            <a:r>
              <a:rPr lang="en-US" sz="1200" dirty="0">
                <a:solidFill>
                  <a:srgbClr val="7F8C8D"/>
                </a:solidFill>
              </a:rPr>
              <a:t>Programar el sistema para que descargue datos nuevos cada mes sin necesidad de correrlo a mano.</a:t>
            </a:r>
            <a:endParaRPr lang="en-US" sz="1200" dirty="0"/>
          </a:p>
        </p:txBody>
      </p:sp>
      <p:sp>
        <p:nvSpPr>
          <p:cNvPr id="8" name="Shape 6"/>
          <p:cNvSpPr/>
          <p:nvPr/>
        </p:nvSpPr>
        <p:spPr>
          <a:xfrm>
            <a:off x="4754880" y="914400"/>
            <a:ext cx="4206240" cy="182880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4754880" y="914400"/>
            <a:ext cx="64008" cy="1828800"/>
          </a:xfrm>
          <a:prstGeom prst="rect">
            <a:avLst/>
          </a:prstGeom>
          <a:solidFill>
            <a:srgbClr val="117A65"/>
          </a:solidFill>
          <a:ln w="12700">
            <a:solidFill>
              <a:srgbClr val="117A65"/>
            </a:solidFill>
            <a:prstDash val="solid"/>
          </a:ln>
        </p:spPr>
      </p:sp>
      <p:sp>
        <p:nvSpPr>
          <p:cNvPr id="10" name="Text 8"/>
          <p:cNvSpPr/>
          <p:nvPr/>
        </p:nvSpPr>
        <p:spPr>
          <a:xfrm>
            <a:off x="4937760" y="1051560"/>
            <a:ext cx="3840480" cy="438912"/>
          </a:xfrm>
          <a:prstGeom prst="rect">
            <a:avLst/>
          </a:prstGeom>
          <a:noFill/>
          <a:ln/>
        </p:spPr>
        <p:txBody>
          <a:bodyPr wrap="square" rtlCol="0" anchor="ctr"/>
          <a:lstStyle/>
          <a:p>
            <a:pPr indent="0" marL="0">
              <a:buNone/>
            </a:pPr>
            <a:r>
              <a:rPr lang="en-US" sz="1500" b="1" dirty="0">
                <a:solidFill>
                  <a:srgbClr val="0D1B2A"/>
                </a:solidFill>
              </a:rPr>
              <a:t>📡  02  Más datos</a:t>
            </a:r>
            <a:endParaRPr lang="en-US" sz="1500" dirty="0"/>
          </a:p>
        </p:txBody>
      </p:sp>
      <p:sp>
        <p:nvSpPr>
          <p:cNvPr id="11" name="Text 9"/>
          <p:cNvSpPr/>
          <p:nvPr/>
        </p:nvSpPr>
        <p:spPr>
          <a:xfrm>
            <a:off x="4937760" y="1536192"/>
            <a:ext cx="3840480" cy="1005840"/>
          </a:xfrm>
          <a:prstGeom prst="rect">
            <a:avLst/>
          </a:prstGeom>
          <a:noFill/>
          <a:ln/>
        </p:spPr>
        <p:txBody>
          <a:bodyPr wrap="square" rtlCol="0" anchor="ctr"/>
          <a:lstStyle/>
          <a:p>
            <a:pPr indent="0" marL="0">
              <a:buNone/>
            </a:pPr>
            <a:r>
              <a:rPr lang="en-US" sz="1200" dirty="0">
                <a:solidFill>
                  <a:srgbClr val="7F8C8D"/>
                </a:solidFill>
              </a:rPr>
              <a:t>Agregar indicadores de educación, salud y pobreza para tener un análisis más completo de Colombia.</a:t>
            </a:r>
            <a:endParaRPr lang="en-US" sz="1200" dirty="0"/>
          </a:p>
        </p:txBody>
      </p:sp>
      <p:sp>
        <p:nvSpPr>
          <p:cNvPr id="12" name="Shape 10"/>
          <p:cNvSpPr/>
          <p:nvPr/>
        </p:nvSpPr>
        <p:spPr>
          <a:xfrm>
            <a:off x="274320" y="2926080"/>
            <a:ext cx="4206240" cy="182880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274320" y="2926080"/>
            <a:ext cx="64008" cy="1828800"/>
          </a:xfrm>
          <a:prstGeom prst="rect">
            <a:avLst/>
          </a:prstGeom>
          <a:solidFill>
            <a:srgbClr val="117A65"/>
          </a:solidFill>
          <a:ln w="12700">
            <a:solidFill>
              <a:srgbClr val="117A65"/>
            </a:solidFill>
            <a:prstDash val="solid"/>
          </a:ln>
        </p:spPr>
      </p:sp>
      <p:sp>
        <p:nvSpPr>
          <p:cNvPr id="14" name="Text 12"/>
          <p:cNvSpPr/>
          <p:nvPr/>
        </p:nvSpPr>
        <p:spPr>
          <a:xfrm>
            <a:off x="457200" y="3063240"/>
            <a:ext cx="3840480" cy="438912"/>
          </a:xfrm>
          <a:prstGeom prst="rect">
            <a:avLst/>
          </a:prstGeom>
          <a:noFill/>
          <a:ln/>
        </p:spPr>
        <p:txBody>
          <a:bodyPr wrap="square" rtlCol="0" anchor="ctr"/>
          <a:lstStyle/>
          <a:p>
            <a:pPr indent="0" marL="0">
              <a:buNone/>
            </a:pPr>
            <a:r>
              <a:rPr lang="en-US" sz="1500" b="1" dirty="0">
                <a:solidFill>
                  <a:srgbClr val="0D1B2A"/>
                </a:solidFill>
              </a:rPr>
              <a:t>🧠  03  Mejor predicción</a:t>
            </a:r>
            <a:endParaRPr lang="en-US" sz="1500" dirty="0"/>
          </a:p>
        </p:txBody>
      </p:sp>
      <p:sp>
        <p:nvSpPr>
          <p:cNvPr id="15" name="Text 13"/>
          <p:cNvSpPr/>
          <p:nvPr/>
        </p:nvSpPr>
        <p:spPr>
          <a:xfrm>
            <a:off x="457200" y="3547872"/>
            <a:ext cx="3840480" cy="1005840"/>
          </a:xfrm>
          <a:prstGeom prst="rect">
            <a:avLst/>
          </a:prstGeom>
          <a:noFill/>
          <a:ln/>
        </p:spPr>
        <p:txBody>
          <a:bodyPr wrap="square" rtlCol="0" anchor="ctr"/>
          <a:lstStyle/>
          <a:p>
            <a:pPr indent="0" marL="0">
              <a:buNone/>
            </a:pPr>
            <a:r>
              <a:rPr lang="en-US" sz="1200" dirty="0">
                <a:solidFill>
                  <a:srgbClr val="7F8C8D"/>
                </a:solidFill>
              </a:rPr>
              <a:t>Usar modelos de series de tiempo más avanzados (ARIMA) que son más precisos para datos económicos.</a:t>
            </a:r>
            <a:endParaRPr lang="en-US" sz="1200" dirty="0"/>
          </a:p>
        </p:txBody>
      </p:sp>
      <p:sp>
        <p:nvSpPr>
          <p:cNvPr id="16" name="Shape 14"/>
          <p:cNvSpPr/>
          <p:nvPr/>
        </p:nvSpPr>
        <p:spPr>
          <a:xfrm>
            <a:off x="4754880" y="2926080"/>
            <a:ext cx="4206240" cy="1828800"/>
          </a:xfrm>
          <a:prstGeom prst="rect">
            <a:avLst/>
          </a:prstGeom>
          <a:solidFill>
            <a:srgbClr val="FFFFFF"/>
          </a:solidFill>
          <a:ln w="12700">
            <a:solidFill>
              <a:srgbClr val="D5D8DC"/>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4754880" y="2926080"/>
            <a:ext cx="64008" cy="1828800"/>
          </a:xfrm>
          <a:prstGeom prst="rect">
            <a:avLst/>
          </a:prstGeom>
          <a:solidFill>
            <a:srgbClr val="117A65"/>
          </a:solidFill>
          <a:ln w="12700">
            <a:solidFill>
              <a:srgbClr val="117A65"/>
            </a:solidFill>
            <a:prstDash val="solid"/>
          </a:ln>
        </p:spPr>
      </p:sp>
      <p:sp>
        <p:nvSpPr>
          <p:cNvPr id="18" name="Text 16"/>
          <p:cNvSpPr/>
          <p:nvPr/>
        </p:nvSpPr>
        <p:spPr>
          <a:xfrm>
            <a:off x="4937760" y="3063240"/>
            <a:ext cx="3840480" cy="438912"/>
          </a:xfrm>
          <a:prstGeom prst="rect">
            <a:avLst/>
          </a:prstGeom>
          <a:noFill/>
          <a:ln/>
        </p:spPr>
        <p:txBody>
          <a:bodyPr wrap="square" rtlCol="0" anchor="ctr"/>
          <a:lstStyle/>
          <a:p>
            <a:pPr indent="0" marL="0">
              <a:buNone/>
            </a:pPr>
            <a:r>
              <a:rPr lang="en-US" sz="1500" b="1" dirty="0">
                <a:solidFill>
                  <a:srgbClr val="0D1B2A"/>
                </a:solidFill>
              </a:rPr>
              <a:t>☁️  04  Publicar en nube</a:t>
            </a:r>
            <a:endParaRPr lang="en-US" sz="1500" dirty="0"/>
          </a:p>
        </p:txBody>
      </p:sp>
      <p:sp>
        <p:nvSpPr>
          <p:cNvPr id="19" name="Text 17"/>
          <p:cNvSpPr/>
          <p:nvPr/>
        </p:nvSpPr>
        <p:spPr>
          <a:xfrm>
            <a:off x="4937760" y="3547872"/>
            <a:ext cx="3840480" cy="1005840"/>
          </a:xfrm>
          <a:prstGeom prst="rect">
            <a:avLst/>
          </a:prstGeom>
          <a:noFill/>
          <a:ln/>
        </p:spPr>
        <p:txBody>
          <a:bodyPr wrap="square" rtlCol="0" anchor="ctr"/>
          <a:lstStyle/>
          <a:p>
            <a:pPr indent="0" marL="0">
              <a:buNone/>
            </a:pPr>
            <a:r>
              <a:rPr lang="en-US" sz="1200" dirty="0">
                <a:solidFill>
                  <a:srgbClr val="7F8C8D"/>
                </a:solidFill>
              </a:rPr>
              <a:t>Subir el dashboard a internet para que cualquier persona lo pueda consultar sin instalar nada.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E94560"/>
          </a:solidFill>
          <a:ln w="12700">
            <a:solidFill>
              <a:srgbClr val="E94560"/>
            </a:solidFill>
            <a:prstDash val="solid"/>
          </a:ln>
        </p:spPr>
      </p:sp>
      <p:sp>
        <p:nvSpPr>
          <p:cNvPr id="3" name="Shape 1"/>
          <p:cNvSpPr/>
          <p:nvPr/>
        </p:nvSpPr>
        <p:spPr>
          <a:xfrm>
            <a:off x="8915400" y="0"/>
            <a:ext cx="228600" cy="5143500"/>
          </a:xfrm>
          <a:prstGeom prst="rect">
            <a:avLst/>
          </a:prstGeom>
          <a:solidFill>
            <a:srgbClr val="117A65"/>
          </a:solidFill>
          <a:ln w="12700">
            <a:solidFill>
              <a:srgbClr val="117A65"/>
            </a:solidFill>
            <a:prstDash val="solid"/>
          </a:ln>
        </p:spPr>
      </p:sp>
      <p:sp>
        <p:nvSpPr>
          <p:cNvPr id="4" name="Text 2"/>
          <p:cNvSpPr/>
          <p:nvPr/>
        </p:nvSpPr>
        <p:spPr>
          <a:xfrm>
            <a:off x="0" y="731520"/>
            <a:ext cx="9144000" cy="1188720"/>
          </a:xfrm>
          <a:prstGeom prst="rect">
            <a:avLst/>
          </a:prstGeom>
          <a:noFill/>
          <a:ln/>
        </p:spPr>
        <p:txBody>
          <a:bodyPr wrap="square" rtlCol="0" anchor="ctr"/>
          <a:lstStyle/>
          <a:p>
            <a:pPr algn="ctr" indent="0" marL="0">
              <a:buNone/>
            </a:pPr>
            <a:r>
              <a:rPr lang="en-US" sz="7200" dirty="0">
                <a:solidFill>
                  <a:srgbClr val="000000"/>
                </a:solidFill>
              </a:rPr>
              <a:t>🌎</a:t>
            </a:r>
            <a:endParaRPr lang="en-US" sz="7200" dirty="0"/>
          </a:p>
        </p:txBody>
      </p:sp>
      <p:sp>
        <p:nvSpPr>
          <p:cNvPr id="5" name="Text 3"/>
          <p:cNvSpPr/>
          <p:nvPr/>
        </p:nvSpPr>
        <p:spPr>
          <a:xfrm>
            <a:off x="914400" y="1920240"/>
            <a:ext cx="7315200" cy="502920"/>
          </a:xfrm>
          <a:prstGeom prst="rect">
            <a:avLst/>
          </a:prstGeom>
          <a:noFill/>
          <a:ln/>
        </p:spPr>
        <p:txBody>
          <a:bodyPr wrap="square" rtlCol="0" anchor="ctr"/>
          <a:lstStyle/>
          <a:p>
            <a:pPr algn="ctr" indent="0" marL="0">
              <a:buNone/>
            </a:pPr>
            <a:r>
              <a:rPr lang="en-US" sz="1600" b="1" dirty="0">
                <a:solidFill>
                  <a:srgbClr val="117A65"/>
                </a:solidFill>
              </a:rPr>
              <a:t>Pipeline completo:</a:t>
            </a:r>
            <a:endParaRPr lang="en-US" sz="1600" dirty="0"/>
          </a:p>
        </p:txBody>
      </p:sp>
      <p:sp>
        <p:nvSpPr>
          <p:cNvPr id="6" name="Text 4"/>
          <p:cNvSpPr/>
          <p:nvPr/>
        </p:nvSpPr>
        <p:spPr>
          <a:xfrm>
            <a:off x="914400" y="2377440"/>
            <a:ext cx="7315200" cy="502920"/>
          </a:xfrm>
          <a:prstGeom prst="rect">
            <a:avLst/>
          </a:prstGeom>
          <a:noFill/>
          <a:ln/>
        </p:spPr>
        <p:txBody>
          <a:bodyPr wrap="square" rtlCol="0" anchor="ctr"/>
          <a:lstStyle/>
          <a:p>
            <a:pPr algn="ctr" indent="0" marL="0">
              <a:buNone/>
            </a:pPr>
            <a:r>
              <a:rPr lang="en-US" sz="1800" b="1" dirty="0">
                <a:solidFill>
                  <a:srgbClr val="FFFFFF"/>
                </a:solidFill>
              </a:rPr>
              <a:t>API  →  ETL  →  PostgreSQL  →  Dashboard  →  ML</a:t>
            </a:r>
            <a:endParaRPr lang="en-US" sz="1800" dirty="0"/>
          </a:p>
        </p:txBody>
      </p:sp>
      <p:sp>
        <p:nvSpPr>
          <p:cNvPr id="7" name="Shape 5"/>
          <p:cNvSpPr/>
          <p:nvPr/>
        </p:nvSpPr>
        <p:spPr>
          <a:xfrm>
            <a:off x="2286000" y="2971800"/>
            <a:ext cx="4572000" cy="36576"/>
          </a:xfrm>
          <a:prstGeom prst="rect">
            <a:avLst/>
          </a:prstGeom>
          <a:solidFill>
            <a:srgbClr val="E94560"/>
          </a:solidFill>
          <a:ln w="12700">
            <a:solidFill>
              <a:srgbClr val="E94560"/>
            </a:solidFill>
            <a:prstDash val="solid"/>
          </a:ln>
        </p:spPr>
      </p:sp>
      <p:sp>
        <p:nvSpPr>
          <p:cNvPr id="8" name="Text 6"/>
          <p:cNvSpPr/>
          <p:nvPr/>
        </p:nvSpPr>
        <p:spPr>
          <a:xfrm>
            <a:off x="914400" y="3063240"/>
            <a:ext cx="7315200" cy="822960"/>
          </a:xfrm>
          <a:prstGeom prst="rect">
            <a:avLst/>
          </a:prstGeom>
          <a:noFill/>
          <a:ln/>
        </p:spPr>
        <p:txBody>
          <a:bodyPr wrap="square" rtlCol="0" anchor="ctr"/>
          <a:lstStyle/>
          <a:p>
            <a:pPr algn="ctr" indent="0" marL="0">
              <a:buNone/>
            </a:pPr>
            <a:r>
              <a:rPr lang="en-US" sz="4400" b="1" dirty="0">
                <a:solidFill>
                  <a:srgbClr val="FFFFFF"/>
                </a:solidFill>
              </a:rPr>
              <a:t>¡Gracias!</a:t>
            </a:r>
            <a:endParaRPr lang="en-US" sz="4400" dirty="0"/>
          </a:p>
        </p:txBody>
      </p:sp>
      <p:sp>
        <p:nvSpPr>
          <p:cNvPr id="9" name="Text 7"/>
          <p:cNvSpPr/>
          <p:nvPr/>
        </p:nvSpPr>
        <p:spPr>
          <a:xfrm>
            <a:off x="914400" y="3931920"/>
            <a:ext cx="7315200" cy="411480"/>
          </a:xfrm>
          <a:prstGeom prst="rect">
            <a:avLst/>
          </a:prstGeom>
          <a:noFill/>
          <a:ln/>
        </p:spPr>
        <p:txBody>
          <a:bodyPr wrap="square" rtlCol="0" anchor="ctr"/>
          <a:lstStyle/>
          <a:p>
            <a:pPr algn="ctr" indent="0" marL="0">
              <a:buNone/>
            </a:pPr>
            <a:r>
              <a:rPr lang="en-US" sz="1400" spc="100" kern="0" dirty="0">
                <a:solidFill>
                  <a:srgbClr val="117A65"/>
                </a:solidFill>
              </a:rPr>
              <a:t>Ximena del Pilar Zambrano Chala  –  Grupo 8</a:t>
            </a:r>
            <a:endParaRPr lang="en-US" sz="1400" dirty="0"/>
          </a:p>
        </p:txBody>
      </p:sp>
      <p:sp>
        <p:nvSpPr>
          <p:cNvPr id="10" name="Text 8"/>
          <p:cNvSpPr/>
          <p:nvPr/>
        </p:nvSpPr>
        <p:spPr>
          <a:xfrm>
            <a:off x="914400" y="4407408"/>
            <a:ext cx="7315200" cy="320040"/>
          </a:xfrm>
          <a:prstGeom prst="rect">
            <a:avLst/>
          </a:prstGeom>
          <a:noFill/>
          <a:ln/>
        </p:spPr>
        <p:txBody>
          <a:bodyPr wrap="square" rtlCol="0" anchor="ctr"/>
          <a:lstStyle/>
          <a:p>
            <a:pPr algn="ctr" indent="0" marL="0">
              <a:buNone/>
            </a:pPr>
            <a:r>
              <a:rPr lang="en-US" sz="1000" i="1" dirty="0">
                <a:solidFill>
                  <a:srgbClr val="7F8C8D"/>
                </a:solidFill>
              </a:rPr>
              <a:t>Fuente: World Bank Open Data  |  data.worldbank.org</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 Bank – Colombia PIB</dc:title>
  <dc:subject>PptxGenJS Presentation</dc:subject>
  <dc:creator>Grupo 8 – Zambrano &amp; Chala</dc:creator>
  <cp:lastModifiedBy>Grupo 8 – Zambrano &amp; Chala</cp:lastModifiedBy>
  <cp:revision>1</cp:revision>
  <dcterms:created xsi:type="dcterms:W3CDTF">2026-03-06T20:37:28Z</dcterms:created>
  <dcterms:modified xsi:type="dcterms:W3CDTF">2026-03-06T20:37:28Z</dcterms:modified>
</cp:coreProperties>
</file>