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Pulse para desplazar la diapositiva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596AAB2-F919-4019-B9A7-AFFB5194BFC7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3C1690-41C8-4D23-B90F-1CCC005A58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68DDDC-F653-4680-9CB8-E4900453F8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E2F121-2103-4B92-BD85-26DE1EE85D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C1065F-E6D0-44DD-85E7-A5FA3D9C33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969292-9E04-4659-9DDD-0E08ECEA3A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BE495B-2C27-488A-A761-DEA6998290B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9D2B8F-2E4D-4CFF-B78D-CF41D7579C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FE1731-668A-4662-85A4-91D5B8F1665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56A536-9C08-4C00-A749-8446D798FA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EE2106-FEB4-4573-A385-D7E600E3CE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48640" y="1097280"/>
            <a:ext cx="8046360" cy="292572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12344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7" strike="noStrike">
                <a:solidFill>
                  <a:srgbClr val="117a65"/>
                </a:solidFill>
                <a:latin typeface="Calibri"/>
              </a:rPr>
              <a:t>🌎  </a:t>
            </a:r>
            <a:r>
              <a:rPr b="1" lang="en-US" sz="1300" spc="497" strike="noStrike">
                <a:solidFill>
                  <a:srgbClr val="117a65"/>
                </a:solidFill>
                <a:latin typeface="Calibri"/>
              </a:rPr>
              <a:t>WORLD BANK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1645920"/>
            <a:ext cx="7863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Análisis de Indicadores</a:t>
            </a:r>
            <a:endParaRPr b="0" lang="es-ES" sz="3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Económicos PIB</a:t>
            </a:r>
            <a:endParaRPr b="0" lang="es-E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301752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d5d8dc"/>
                </a:solidFill>
                <a:latin typeface="Calibri"/>
              </a:rPr>
              <a:t>Colombia &amp; América Latina  |  2000–2023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40080" y="3520440"/>
            <a:ext cx="7863480" cy="36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" y="36118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f8c8d"/>
                </a:solidFill>
                <a:latin typeface="Calibri"/>
              </a:rPr>
              <a:t>Grupo 8  –  Ximena del pilar zambrano chala</a:t>
            </a:r>
            <a:r>
              <a:rPr b="0" lang="en-US" sz="1100" spc="-1" strike="noStrike">
                <a:solidFill>
                  <a:srgbClr val="7f8c8d"/>
                </a:solidFill>
                <a:latin typeface="Calibri"/>
              </a:rPr>
              <a:t>  |  ETL + Streamlit + Machine Learning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PROBLEMA IDENTIFICADO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365760" y="1005840"/>
            <a:ext cx="2651400" cy="347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365760" y="1005840"/>
            <a:ext cx="2651400" cy="72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365760" y="118872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📉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502920" y="196596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</a:rPr>
              <a:t>Falta de visibilidad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502920" y="2560320"/>
            <a:ext cx="23770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8d"/>
                </a:solidFill>
                <a:latin typeface="Calibri"/>
              </a:rPr>
              <a:t>Los datos económicos del World Bank están dispersos y son difíciles de comparar entre países.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3200400" y="1005840"/>
            <a:ext cx="2651400" cy="347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3200400" y="1005840"/>
            <a:ext cx="2651400" cy="72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3200400" y="118872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🔍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3337560" y="196596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</a:rPr>
              <a:t>Análisis manual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3337560" y="2560320"/>
            <a:ext cx="23770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8d"/>
                </a:solidFill>
                <a:latin typeface="Calibri"/>
              </a:rPr>
              <a:t>No existe una herramienta unificada que permita explorar indicadores de Colombia vs LATAM interactivamente.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6035040" y="1005840"/>
            <a:ext cx="2651400" cy="347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3"/>
          <p:cNvSpPr/>
          <p:nvPr/>
        </p:nvSpPr>
        <p:spPr>
          <a:xfrm>
            <a:off x="6035040" y="1005840"/>
            <a:ext cx="2651400" cy="72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6035040" y="118872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🤖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6172200" y="196596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</a:rPr>
              <a:t>Sin predicción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6172200" y="2560320"/>
            <a:ext cx="23770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8d"/>
                </a:solidFill>
                <a:latin typeface="Calibri"/>
              </a:rPr>
              <a:t>Ausencia de modelos que proyecten tendencias del PIB y el crecimiento económico futuro.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ALCANCE &amp; PREGUNTA DE INVESTIGACIÓN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2"/>
          <p:cNvSpPr/>
          <p:nvPr/>
        </p:nvSpPr>
        <p:spPr>
          <a:xfrm>
            <a:off x="274320" y="960120"/>
            <a:ext cx="402300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274320" y="960120"/>
            <a:ext cx="4023000" cy="543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457200" y="105156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17a65"/>
                </a:solidFill>
                <a:latin typeface="Calibri"/>
              </a:rPr>
              <a:t>📐  </a:t>
            </a:r>
            <a:r>
              <a:rPr b="1" lang="en-US" sz="1500" spc="-1" strike="noStrike">
                <a:solidFill>
                  <a:srgbClr val="117a65"/>
                </a:solidFill>
                <a:latin typeface="Calibri"/>
              </a:rPr>
              <a:t>ALCANCE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457200" y="1600200"/>
            <a:ext cx="36572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Calibri"/>
              </a:rPr>
              <a:t>7 países: CO, US, BR, MX, AR, CL, PE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Calibri"/>
              </a:rPr>
              <a:t>8 indicadores económicos del World Bank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Calibri"/>
              </a:rPr>
              <a:t>Período: 2000 – 2023 (24 años)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Calibri"/>
              </a:rPr>
              <a:t>168 registros limpios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Calibri"/>
              </a:rPr>
              <a:t>ETL completo: extracción → transformación → carga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Calibri"/>
              </a:rPr>
              <a:t>Dashboard interactivo con 4 secciones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4663440" y="960120"/>
            <a:ext cx="4114440" cy="374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4846320" y="109728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17a65"/>
                </a:solidFill>
                <a:latin typeface="Calibri"/>
              </a:rPr>
              <a:t>❓  </a:t>
            </a:r>
            <a:r>
              <a:rPr b="1" lang="en-US" sz="1400" spc="-1" strike="noStrike">
                <a:solidFill>
                  <a:srgbClr val="117a65"/>
                </a:solidFill>
                <a:latin typeface="Calibri"/>
              </a:rPr>
              <a:t>PREGUNTA DE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17a65"/>
                </a:solidFill>
                <a:latin typeface="Calibri"/>
              </a:rPr>
              <a:t>    </a:t>
            </a:r>
            <a:r>
              <a:rPr b="1" lang="en-US" sz="1400" spc="-1" strike="noStrike">
                <a:solidFill>
                  <a:srgbClr val="117a65"/>
                </a:solidFill>
                <a:latin typeface="Calibri"/>
              </a:rPr>
              <a:t>INVESTIGACIÓN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4846320" y="2011680"/>
            <a:ext cx="37486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</a:rPr>
              <a:t>¿Cómo ha evolucionado el crecimiento económico de Colombia entre 2000 y 2023 en comparación con América Latina, y qué factores predicen mejor su PIB futuro?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9"/>
          <p:cNvSpPr/>
          <p:nvPr/>
        </p:nvSpPr>
        <p:spPr>
          <a:xfrm>
            <a:off x="4846320" y="3931920"/>
            <a:ext cx="3748680" cy="36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4846320" y="402336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f8c8d"/>
                </a:solidFill>
                <a:latin typeface="Calibri"/>
              </a:rPr>
              <a:t>World Bank Open Data API  –  api.worldbank.org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HERRAMIENTAS UTILIZADAS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320040" y="960120"/>
            <a:ext cx="19656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320040" y="1097280"/>
            <a:ext cx="196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🐍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411480" y="173736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Python 3.11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411480" y="213048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Lenguaje principal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2468880" y="960120"/>
            <a:ext cx="19656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2468880" y="1097280"/>
            <a:ext cx="196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🌐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2560320" y="173736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World Bank API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2560320" y="213048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Fuente de datos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4617720" y="960120"/>
            <a:ext cx="19656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4617720" y="1097280"/>
            <a:ext cx="196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🐼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4709160" y="173736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Pandas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4709160" y="213048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Transformación ETL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6766560" y="960120"/>
            <a:ext cx="19656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6766560" y="1097280"/>
            <a:ext cx="196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6858000" y="173736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Streamlit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6858000" y="213048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Dashboard web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320040" y="2834640"/>
            <a:ext cx="19656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320040" y="2971800"/>
            <a:ext cx="196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📈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411480" y="361188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Plotly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411480" y="400500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Visualizaciones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2"/>
          <p:cNvSpPr/>
          <p:nvPr/>
        </p:nvSpPr>
        <p:spPr>
          <a:xfrm>
            <a:off x="2468880" y="2834640"/>
            <a:ext cx="19656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3"/>
          <p:cNvSpPr/>
          <p:nvPr/>
        </p:nvSpPr>
        <p:spPr>
          <a:xfrm>
            <a:off x="2468880" y="2971800"/>
            <a:ext cx="196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🤖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4"/>
          <p:cNvSpPr/>
          <p:nvPr/>
        </p:nvSpPr>
        <p:spPr>
          <a:xfrm>
            <a:off x="2560320" y="361188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Scikit-learn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5"/>
          <p:cNvSpPr/>
          <p:nvPr/>
        </p:nvSpPr>
        <p:spPr>
          <a:xfrm>
            <a:off x="2560320" y="400500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Machine Learning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6"/>
          <p:cNvSpPr/>
          <p:nvPr/>
        </p:nvSpPr>
        <p:spPr>
          <a:xfrm>
            <a:off x="4617720" y="2834640"/>
            <a:ext cx="19656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7"/>
          <p:cNvSpPr/>
          <p:nvPr/>
        </p:nvSpPr>
        <p:spPr>
          <a:xfrm>
            <a:off x="4617720" y="2971800"/>
            <a:ext cx="196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🐘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8"/>
          <p:cNvSpPr/>
          <p:nvPr/>
        </p:nvSpPr>
        <p:spPr>
          <a:xfrm>
            <a:off x="4709160" y="361188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PostgreSQL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9"/>
          <p:cNvSpPr/>
          <p:nvPr/>
        </p:nvSpPr>
        <p:spPr>
          <a:xfrm>
            <a:off x="4709160" y="400500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Base de datos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30"/>
          <p:cNvSpPr/>
          <p:nvPr/>
        </p:nvSpPr>
        <p:spPr>
          <a:xfrm>
            <a:off x="6766560" y="2834640"/>
            <a:ext cx="19656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31"/>
          <p:cNvSpPr/>
          <p:nvPr/>
        </p:nvSpPr>
        <p:spPr>
          <a:xfrm>
            <a:off x="6766560" y="2971800"/>
            <a:ext cx="196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🐳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32"/>
          <p:cNvSpPr/>
          <p:nvPr/>
        </p:nvSpPr>
        <p:spPr>
          <a:xfrm>
            <a:off x="6858000" y="361188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Docker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3"/>
          <p:cNvSpPr/>
          <p:nvPr/>
        </p:nvSpPr>
        <p:spPr>
          <a:xfrm>
            <a:off x="6858000" y="400500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Contenedores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ARQUITECTURA DE DATOS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457200" y="1188720"/>
            <a:ext cx="1737000" cy="1737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457200" y="132588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🌐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457200" y="205740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World Bank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API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2194560" y="2011680"/>
            <a:ext cx="319680" cy="72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2514600" y="1188720"/>
            <a:ext cx="1737000" cy="1737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2514600" y="132588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⚙️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2514600" y="205740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ETL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Python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4251960" y="2011680"/>
            <a:ext cx="319680" cy="72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4572000" y="1188720"/>
            <a:ext cx="1737000" cy="1737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4572000" y="132588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🗄️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4572000" y="205740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PostgreSQL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+ CSV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6309360" y="2011680"/>
            <a:ext cx="319680" cy="72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14"/>
          <p:cNvSpPr/>
          <p:nvPr/>
        </p:nvSpPr>
        <p:spPr>
          <a:xfrm>
            <a:off x="6629400" y="1188720"/>
            <a:ext cx="1737000" cy="1737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6629400" y="132588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6629400" y="205740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Streamlit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Dashboard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7"/>
          <p:cNvSpPr/>
          <p:nvPr/>
        </p:nvSpPr>
        <p:spPr>
          <a:xfrm>
            <a:off x="457200" y="3063240"/>
            <a:ext cx="17370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548640" y="3154680"/>
            <a:ext cx="155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Extracción: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8 indicadores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7 países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2000–2023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9"/>
          <p:cNvSpPr/>
          <p:nvPr/>
        </p:nvSpPr>
        <p:spPr>
          <a:xfrm>
            <a:off x="2514600" y="3063240"/>
            <a:ext cx="17370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2606040" y="3154680"/>
            <a:ext cx="155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Transformación: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Limpieza NaN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Normalización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Enriquecimiento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1"/>
          <p:cNvSpPr/>
          <p:nvPr/>
        </p:nvSpPr>
        <p:spPr>
          <a:xfrm>
            <a:off x="4572000" y="3063240"/>
            <a:ext cx="17370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4663440" y="3154680"/>
            <a:ext cx="155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Carga: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Tabla indicadores_pib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Índices optimizados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Vistas SQL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3"/>
          <p:cNvSpPr/>
          <p:nvPr/>
        </p:nvSpPr>
        <p:spPr>
          <a:xfrm>
            <a:off x="6629400" y="3063240"/>
            <a:ext cx="17370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4"/>
          <p:cNvSpPr/>
          <p:nvPr/>
        </p:nvSpPr>
        <p:spPr>
          <a:xfrm>
            <a:off x="6720840" y="3154680"/>
            <a:ext cx="155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Visualización: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4 secciones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Filtros dinámicos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</a:rPr>
              <a:t>Descarga CSV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MODELOS DE MACHINE LEARNING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274320" y="960120"/>
            <a:ext cx="269712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274320" y="960120"/>
            <a:ext cx="2697120" cy="5025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365760" y="98748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01  📈  Regresión Lineal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384120" y="1554480"/>
            <a:ext cx="2477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117a65"/>
                </a:solidFill>
                <a:latin typeface="Calibri"/>
              </a:rPr>
              <a:t>Predecir PIB per cápita de Colombia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384120" y="2148840"/>
            <a:ext cx="2477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Variable target: pib_per_capita_usd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Feature: año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Predicciones: 2024–2027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Train/Test split: 80/20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7"/>
          <p:cNvSpPr/>
          <p:nvPr/>
        </p:nvSpPr>
        <p:spPr>
          <a:xfrm>
            <a:off x="3154680" y="960120"/>
            <a:ext cx="269712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3154680" y="960120"/>
            <a:ext cx="2697120" cy="5025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3246120" y="98748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02  🌲  Random Forest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3264480" y="1554480"/>
            <a:ext cx="2477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1b4f72"/>
                </a:solidFill>
                <a:latin typeface="Calibri"/>
              </a:rPr>
              <a:t>Predecir crecimiento del PIB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3264480" y="2148840"/>
            <a:ext cx="2477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100 árboles de decisión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5 variables económicas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Feature importance ranking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Comparativa Real vs Predicho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6035040" y="960120"/>
            <a:ext cx="269712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3"/>
          <p:cNvSpPr/>
          <p:nvPr/>
        </p:nvSpPr>
        <p:spPr>
          <a:xfrm>
            <a:off x="6035040" y="960120"/>
            <a:ext cx="2697120" cy="502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4"/>
          <p:cNvSpPr/>
          <p:nvPr/>
        </p:nvSpPr>
        <p:spPr>
          <a:xfrm>
            <a:off x="6126480" y="98748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03  🔵  K-Means Clustering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6144840" y="1554480"/>
            <a:ext cx="2477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e94560"/>
                </a:solidFill>
                <a:latin typeface="Calibri"/>
              </a:rPr>
              <a:t>Agrupar países por similitud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6144840" y="2148840"/>
            <a:ext cx="2477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k = 3 clusters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StandardScaler aplicado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Variables: PIB, inflación,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crecimiento, desempleo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Calibri"/>
              </a:rPr>
              <a:t>Visualización 2D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MÉTRICAS DE EVALUACIÓN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1" name="Table 0"/>
          <p:cNvGraphicFramePr/>
          <p:nvPr/>
        </p:nvGraphicFramePr>
        <p:xfrm>
          <a:off x="365760" y="960120"/>
          <a:ext cx="8412120" cy="30078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475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  <a:endParaRPr b="0" lang="es-E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  <a:endParaRPr b="0" lang="es-E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  <a:endParaRPr b="0" lang="es-E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Interpretación</a:t>
                      </a:r>
                      <a:endParaRPr b="0" lang="es-E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Regresión Lineal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R²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0.92+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Excelente ajuste tendencia histórica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Regresión Lineal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MAE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~$450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Error promedio predicción per cápita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Random Forest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R²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0.78+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Buena predicción crecimiento PIB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Random Forest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RMSE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~1.8%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Error cuadrático medio crecimiento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K-Means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k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3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d1b2a"/>
                          </a:solidFill>
                          <a:latin typeface="Calibri"/>
                        </a:rPr>
                        <a:t>Clusters: bajo / medio / alto ingreso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8dc"/>
                      </a:solidFill>
                      <a:prstDash val="solid"/>
                    </a:lnL>
                    <a:lnR w="6480">
                      <a:solidFill>
                        <a:srgbClr val="d5d8dc"/>
                      </a:solidFill>
                      <a:prstDash val="solid"/>
                    </a:lnR>
                    <a:lnT w="6480">
                      <a:solidFill>
                        <a:srgbClr val="d5d8dc"/>
                      </a:solidFill>
                      <a:prstDash val="solid"/>
                    </a:lnT>
                    <a:lnB w="6480">
                      <a:solidFill>
                        <a:srgbClr val="d5d8d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2" name="Text 2"/>
          <p:cNvSpPr/>
          <p:nvPr/>
        </p:nvSpPr>
        <p:spPr>
          <a:xfrm>
            <a:off x="365760" y="429768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f8c8d"/>
                </a:solidFill>
                <a:latin typeface="Calibri"/>
              </a:rPr>
              <a:t>* Valores aproximados — ejecutar notebook analisis_ml.ipynb para métricas exactas con los datos reales.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RESULTADOS OBTENIDOS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274320" y="1005840"/>
            <a:ext cx="1919880" cy="13712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274320" y="105156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168</a:t>
            </a:r>
            <a:endParaRPr b="0" lang="es-E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274320" y="178308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Registros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extraídos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5"/>
          <p:cNvSpPr/>
          <p:nvPr/>
        </p:nvSpPr>
        <p:spPr>
          <a:xfrm>
            <a:off x="2423160" y="1005840"/>
            <a:ext cx="1919880" cy="1371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2423160" y="105156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s-E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2423160" y="178308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Países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analizados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8"/>
          <p:cNvSpPr/>
          <p:nvPr/>
        </p:nvSpPr>
        <p:spPr>
          <a:xfrm>
            <a:off x="4572000" y="1005840"/>
            <a:ext cx="1919880" cy="1371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4572000" y="105156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s-E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4572000" y="178308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Indicadores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económicos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1"/>
          <p:cNvSpPr/>
          <p:nvPr/>
        </p:nvSpPr>
        <p:spPr>
          <a:xfrm>
            <a:off x="6720840" y="1005840"/>
            <a:ext cx="1919880" cy="1371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6720840" y="105156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24</a:t>
            </a:r>
            <a:endParaRPr b="0" lang="es-E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6720840" y="178308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Años de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historia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4"/>
          <p:cNvSpPr/>
          <p:nvPr/>
        </p:nvSpPr>
        <p:spPr>
          <a:xfrm>
            <a:off x="365760" y="2560320"/>
            <a:ext cx="84121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0d1b2a"/>
                </a:solidFill>
                <a:latin typeface="Calibri"/>
              </a:rPr>
              <a:t>✅  </a:t>
            </a:r>
            <a:r>
              <a:rPr b="0" lang="en-US" sz="1300" spc="-1" strike="noStrike">
                <a:solidFill>
                  <a:srgbClr val="0d1b2a"/>
                </a:solidFill>
                <a:latin typeface="Calibri"/>
              </a:rPr>
              <a:t>ETL automatizado con manejo de errores y fallback CSV/PostgreSQL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0d1b2a"/>
                </a:solidFill>
                <a:latin typeface="Calibri"/>
              </a:rPr>
              <a:t>✅  </a:t>
            </a:r>
            <a:r>
              <a:rPr b="0" lang="en-US" sz="1300" spc="-1" strike="noStrike">
                <a:solidFill>
                  <a:srgbClr val="0d1b2a"/>
                </a:solidFill>
                <a:latin typeface="Calibri"/>
              </a:rPr>
              <a:t>Dashboard Streamlit con 4 secciones interactivas y descarga de datos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0d1b2a"/>
                </a:solidFill>
                <a:latin typeface="Calibri"/>
              </a:rPr>
              <a:t>✅  </a:t>
            </a:r>
            <a:r>
              <a:rPr b="0" lang="en-US" sz="1300" spc="-1" strike="noStrike">
                <a:solidFill>
                  <a:srgbClr val="0d1b2a"/>
                </a:solidFill>
                <a:latin typeface="Calibri"/>
              </a:rPr>
              <a:t>Pipeline completo: API → transformación → BD → visualización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0d1b2a"/>
                </a:solidFill>
                <a:latin typeface="Calibri"/>
              </a:rPr>
              <a:t>✅  </a:t>
            </a:r>
            <a:r>
              <a:rPr b="0" lang="en-US" sz="1300" spc="-1" strike="noStrike">
                <a:solidFill>
                  <a:srgbClr val="0d1b2a"/>
                </a:solidFill>
                <a:latin typeface="Calibri"/>
              </a:rPr>
              <a:t>3 modelos ML implementados y evaluados con métricas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0d1b2a"/>
                </a:solidFill>
                <a:latin typeface="Calibri"/>
              </a:rPr>
              <a:t>✅  </a:t>
            </a:r>
            <a:r>
              <a:rPr b="0" lang="en-US" sz="1300" spc="-1" strike="noStrike">
                <a:solidFill>
                  <a:srgbClr val="0d1b2a"/>
                </a:solidFill>
                <a:latin typeface="Calibri"/>
              </a:rPr>
              <a:t>Containerización con Docker Compose para despliegue reproducible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RECOMENDACIONES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274320" y="960120"/>
            <a:ext cx="416016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274320" y="960120"/>
            <a:ext cx="63720" cy="17827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438840" y="10972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</a:rPr>
              <a:t>🔄  </a:t>
            </a:r>
            <a:r>
              <a:rPr b="1" lang="en-US" sz="1400" spc="-1" strike="noStrike">
                <a:solidFill>
                  <a:srgbClr val="0d1b2a"/>
                </a:solidFill>
                <a:latin typeface="Calibri"/>
              </a:rPr>
              <a:t>01  Actualización automática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438840" y="152712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f8c8d"/>
                </a:solidFill>
                <a:latin typeface="Calibri"/>
              </a:rPr>
              <a:t>Implementar scheduler (Airflow o cron) para re-ejecutar el ETL mensualmente y mantener los datos actualizados.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6"/>
          <p:cNvSpPr/>
          <p:nvPr/>
        </p:nvSpPr>
        <p:spPr>
          <a:xfrm>
            <a:off x="4709160" y="960120"/>
            <a:ext cx="416016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4709160" y="960120"/>
            <a:ext cx="63720" cy="17827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4873680" y="10972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</a:rPr>
              <a:t>📡  </a:t>
            </a:r>
            <a:r>
              <a:rPr b="1" lang="en-US" sz="1400" spc="-1" strike="noStrike">
                <a:solidFill>
                  <a:srgbClr val="0d1b2a"/>
                </a:solidFill>
                <a:latin typeface="Calibri"/>
              </a:rPr>
              <a:t>02  Más indicadores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4873680" y="152712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f8c8d"/>
                </a:solidFill>
                <a:latin typeface="Calibri"/>
              </a:rPr>
              <a:t>Incorporar indicadores sociales (educación, salud, desigualdad) para un análisis multidimensional más completo.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274320" y="2926080"/>
            <a:ext cx="416016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274320" y="2926080"/>
            <a:ext cx="63720" cy="17827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438840" y="306324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</a:rPr>
              <a:t>🧠  </a:t>
            </a:r>
            <a:r>
              <a:rPr b="1" lang="en-US" sz="1400" spc="-1" strike="noStrike">
                <a:solidFill>
                  <a:srgbClr val="0d1b2a"/>
                </a:solidFill>
                <a:latin typeface="Calibri"/>
              </a:rPr>
              <a:t>03  Modelos avanzados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438840" y="349308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f8c8d"/>
                </a:solidFill>
                <a:latin typeface="Calibri"/>
              </a:rPr>
              <a:t>Explorar modelos de series de tiempo (ARIMA, Prophet) para predicciones más precisas del PIB.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4"/>
          <p:cNvSpPr/>
          <p:nvPr/>
        </p:nvSpPr>
        <p:spPr>
          <a:xfrm>
            <a:off x="4709160" y="2926080"/>
            <a:ext cx="416016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4709160" y="2926080"/>
            <a:ext cx="63720" cy="17827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4873680" y="306324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</a:rPr>
              <a:t>☁️  </a:t>
            </a:r>
            <a:r>
              <a:rPr b="1" lang="en-US" sz="1400" spc="-1" strike="noStrike">
                <a:solidFill>
                  <a:srgbClr val="0d1b2a"/>
                </a:solidFill>
                <a:latin typeface="Calibri"/>
              </a:rPr>
              <a:t>04  Despliegue en nube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4873680" y="349308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f8c8d"/>
                </a:solidFill>
                <a:latin typeface="Calibri"/>
              </a:rPr>
              <a:t>Publicar el dashboard en Streamlit Cloud o AWS para acceso público sin necesidad de instalación local.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8915400" y="0"/>
            <a:ext cx="228240" cy="51433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0" y="109728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0" spc="-1" strike="noStrike">
                <a:solidFill>
                  <a:srgbClr val="000000"/>
                </a:solidFill>
                <a:latin typeface="Calibri"/>
              </a:rPr>
              <a:t>🌎</a:t>
            </a:r>
            <a:endParaRPr b="0" lang="es-E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914400" y="219456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</a:rPr>
              <a:t>¡Gracias!</a:t>
            </a:r>
            <a:endParaRPr b="0" lang="es-E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914400" y="310896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199" strike="noStrike">
                <a:solidFill>
                  <a:srgbClr val="117a65"/>
                </a:solidFill>
                <a:latin typeface="Calibri"/>
              </a:rPr>
              <a:t>Grupo 8  –  Zambrano &amp; Chala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914400" y="37490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7f8c8d"/>
                </a:solidFill>
                <a:latin typeface="Calibri"/>
              </a:rPr>
              <a:t>Fuente: World Bank Open Data  |  data.worldbank.org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2026-03-06T02:11:12Z</dcterms:created>
  <dc:creator>Grupo 8 – Zambrano &amp; Chala</dc:creator>
  <dc:description/>
  <dc:language>es-ES</dc:language>
  <cp:lastModifiedBy/>
  <dcterms:modified xsi:type="dcterms:W3CDTF">2026-03-05T22:01:31Z</dcterms:modified>
  <cp:revision>2</cp:revision>
  <dc:subject>PptxGenJS Presentation</dc:subject>
  <dc:title>World Bank – Análisis PIB Colombia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