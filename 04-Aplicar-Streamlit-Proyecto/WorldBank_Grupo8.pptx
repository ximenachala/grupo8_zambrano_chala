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97280"/>
            <a:ext cx="8046720" cy="2926080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3444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117A65"/>
                </a:solidFill>
              </a:rPr>
              <a:t>🌎  WORLD BANK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7863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</a:rPr>
              <a:t>Análisis de Indicadores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</a:rPr>
              <a:t>Económicos PIB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40080" y="301752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5D8DC"/>
                </a:solidFill>
              </a:rPr>
              <a:t>Colombia &amp; América Latina  |  2000–2023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520440"/>
            <a:ext cx="7863840" cy="36576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61188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</a:rPr>
              <a:t>Grupo 8  –  Zambrano &amp; Chala  |  ETL + Streamlit + Machine Learning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PROBLEMA IDENTIFICADO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265176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8D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05840"/>
            <a:ext cx="2651760" cy="73152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18872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📉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02920" y="196596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2A"/>
                </a:solidFill>
              </a:rPr>
              <a:t>Falta de visibilidad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2560320"/>
            <a:ext cx="2377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F8C8D"/>
                </a:solidFill>
              </a:rPr>
              <a:t>Los datos económicos del World Bank están dispersos y son difíciles de comparar entre países.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1005840"/>
            <a:ext cx="265176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8D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1005840"/>
            <a:ext cx="2651760" cy="73152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0" y="118872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🔍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337560" y="196596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2A"/>
                </a:solidFill>
              </a:rPr>
              <a:t>Análisis manual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337560" y="2560320"/>
            <a:ext cx="2377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F8C8D"/>
                </a:solidFill>
              </a:rPr>
              <a:t>No existe una herramienta unificada que permita explorar indicadores de Colombia vs LATAM interactivamente.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35040" y="1005840"/>
            <a:ext cx="265176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8D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35040" y="1005840"/>
            <a:ext cx="2651760" cy="73152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0" y="118872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🤖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6172200" y="196596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2A"/>
                </a:solidFill>
              </a:rPr>
              <a:t>Sin predicción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172200" y="2560320"/>
            <a:ext cx="2377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F8C8D"/>
                </a:solidFill>
              </a:rPr>
              <a:t>Ausencia de modelos que proyecten tendencias del PIB y el crecimiento económico futuro.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ALCANCE &amp; PREGUNTA DE INVESTIGACIÓN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40233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8D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60120"/>
            <a:ext cx="4023360" cy="54864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51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7A65"/>
                </a:solidFill>
              </a:rPr>
              <a:t>📐  ALCANCE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1600200"/>
            <a:ext cx="365760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D1B2A"/>
                </a:solidFill>
              </a:rPr>
              <a:t>7 países: CO, US, BR, MX, AR, CL, PE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D1B2A"/>
                </a:solidFill>
              </a:rPr>
              <a:t>8 indicadores económicos del World Bank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D1B2A"/>
                </a:solidFill>
              </a:rPr>
              <a:t>Período: 2000 – 2023 (24 años)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D1B2A"/>
                </a:solidFill>
              </a:rPr>
              <a:t>168 registros limpios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D1B2A"/>
                </a:solidFill>
              </a:rPr>
              <a:t>ETL completo: extracción → transformación → carga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D1B2A"/>
                </a:solidFill>
              </a:rPr>
              <a:t>Dashboard interactivo con 4 secciones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960120"/>
            <a:ext cx="4114800" cy="37490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846320" y="1097280"/>
            <a:ext cx="3749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7A65"/>
                </a:solidFill>
              </a:rPr>
              <a:t>❓  PREGUNTA DE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17A65"/>
                </a:solidFill>
              </a:rPr>
              <a:t>    INVESTIGACIÓN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0" y="2011680"/>
            <a:ext cx="37490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FFFFFF"/>
                </a:solidFill>
              </a:rPr>
              <a:t>¿Cómo ha evolucionado el crecimiento económico de Colombia entre 2000 y 2023 en comparación con América Latina, y qué factores predicen mejor su PIB futuro?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846320" y="3931920"/>
            <a:ext cx="3749040" cy="36576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402336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F8C8D"/>
                </a:solidFill>
              </a:rPr>
              <a:t>World Bank Open Data API  –  api.worldbank.org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HERRAMIENTAS UTILIZADAS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19659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8D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20040" y="109728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🐍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11480" y="1737360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</a:rPr>
              <a:t>Python 3.11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2130552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8C8D"/>
                </a:solidFill>
              </a:rPr>
              <a:t>Lenguaje principal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468880" y="960120"/>
            <a:ext cx="19659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8D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468880" y="109728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🌐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560320" y="1737360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</a:rPr>
              <a:t>World Bank API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560320" y="2130552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8C8D"/>
                </a:solidFill>
              </a:rPr>
              <a:t>Fuente de datos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17720" y="960120"/>
            <a:ext cx="19659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8D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17720" y="109728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🐼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709160" y="1737360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</a:rPr>
              <a:t>Pandas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09160" y="2130552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8C8D"/>
                </a:solidFill>
              </a:rPr>
              <a:t>Transformación ETL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766560" y="960120"/>
            <a:ext cx="19659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8D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766560" y="109728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858000" y="1737360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</a:rPr>
              <a:t>Streamlit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58000" y="2130552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8C8D"/>
                </a:solidFill>
              </a:rPr>
              <a:t>Dashboard web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0040" y="2834640"/>
            <a:ext cx="19659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8D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20040" y="297180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📈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411480" y="3611880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</a:rPr>
              <a:t>Plotly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11480" y="4005072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8C8D"/>
                </a:solidFill>
              </a:rPr>
              <a:t>Visualizaciones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468880" y="2834640"/>
            <a:ext cx="19659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8D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2468880" y="297180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🤖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2560320" y="3611880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</a:rPr>
              <a:t>Scikit-learn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560320" y="4005072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8C8D"/>
                </a:solidFill>
              </a:rPr>
              <a:t>Machine Learning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17720" y="2834640"/>
            <a:ext cx="19659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8D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617720" y="297180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🐘</a:t>
            </a:r>
            <a:endParaRPr lang="en-US" sz="2800" dirty="0"/>
          </a:p>
        </p:txBody>
      </p:sp>
      <p:sp>
        <p:nvSpPr>
          <p:cNvPr id="30" name="Text 28"/>
          <p:cNvSpPr/>
          <p:nvPr/>
        </p:nvSpPr>
        <p:spPr>
          <a:xfrm>
            <a:off x="4709160" y="3611880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</a:rPr>
              <a:t>PostgreSQL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709160" y="4005072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8C8D"/>
                </a:solidFill>
              </a:rPr>
              <a:t>Base de datos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766560" y="2834640"/>
            <a:ext cx="19659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8D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766560" y="297180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🐳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6858000" y="3611880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</a:rPr>
              <a:t>Docker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858000" y="4005072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8C8D"/>
                </a:solidFill>
              </a:rPr>
              <a:t>Contenedores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ARQUITECTURA DE DATOS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737360" cy="173736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32588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🌐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57200" y="205740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World Bank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API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194560" y="2011680"/>
            <a:ext cx="320040" cy="73152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14600" y="1188720"/>
            <a:ext cx="1737360" cy="173736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514600" y="132588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⚙️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514600" y="205740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ETL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Python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51960" y="2011680"/>
            <a:ext cx="320040" cy="73152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188720"/>
            <a:ext cx="1737360" cy="17373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0" y="132588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🗄️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572000" y="205740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PostgreSQL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+ CSV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309360" y="2011680"/>
            <a:ext cx="320040" cy="73152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29400" y="1188720"/>
            <a:ext cx="1737360" cy="173736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629400" y="132588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📊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629400" y="205740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Streamlit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Dashboard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063240"/>
            <a:ext cx="17373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8D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3154680"/>
            <a:ext cx="1554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D1B2A"/>
                </a:solidFill>
              </a:rPr>
              <a:t>Extracción: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D1B2A"/>
                </a:solidFill>
              </a:rPr>
              <a:t>8 indicadores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D1B2A"/>
                </a:solidFill>
              </a:rPr>
              <a:t>7 países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D1B2A"/>
                </a:solidFill>
              </a:rPr>
              <a:t>2000–2023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14600" y="3063240"/>
            <a:ext cx="17373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8D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606040" y="3154680"/>
            <a:ext cx="1554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D1B2A"/>
                </a:solidFill>
              </a:rPr>
              <a:t>Transformación: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D1B2A"/>
                </a:solidFill>
              </a:rPr>
              <a:t>Limpieza NaN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D1B2A"/>
                </a:solidFill>
              </a:rPr>
              <a:t>Normalización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D1B2A"/>
                </a:solidFill>
              </a:rPr>
              <a:t>Enriquecimiento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0" y="3063240"/>
            <a:ext cx="17373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8D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663440" y="3154680"/>
            <a:ext cx="1554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D1B2A"/>
                </a:solidFill>
              </a:rPr>
              <a:t>Carga: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D1B2A"/>
                </a:solidFill>
              </a:rPr>
              <a:t>Tabla indicadores_pib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D1B2A"/>
                </a:solidFill>
              </a:rPr>
              <a:t>Índices optimizados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D1B2A"/>
                </a:solidFill>
              </a:rPr>
              <a:t>Vistas SQL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629400" y="3063240"/>
            <a:ext cx="17373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8D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720840" y="3154680"/>
            <a:ext cx="1554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D1B2A"/>
                </a:solidFill>
              </a:rPr>
              <a:t>Visualización: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D1B2A"/>
                </a:solidFill>
              </a:rPr>
              <a:t>4 secciones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D1B2A"/>
                </a:solidFill>
              </a:rPr>
              <a:t>Filtros dinámicos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D1B2A"/>
                </a:solidFill>
              </a:rPr>
              <a:t>Descarga CSV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MODELOS DE MACHINE LEARNING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269748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8D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60120"/>
            <a:ext cx="2697480" cy="50292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987552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01  📈  Regresión Lineal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84048" y="1554480"/>
            <a:ext cx="247802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17A65"/>
                </a:solidFill>
              </a:rPr>
              <a:t>Predecir PIB per cápita de Colombia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84048" y="2148840"/>
            <a:ext cx="2478024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</a:rPr>
              <a:t>Variable target: pib_per_capita_usd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</a:rPr>
              <a:t>Feature: año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</a:rPr>
              <a:t>Predicciones: 2024–2027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</a:rPr>
              <a:t>Train/Test split: 80/20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154680" y="960120"/>
            <a:ext cx="269748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8D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54680" y="960120"/>
            <a:ext cx="2697480" cy="50292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46120" y="987552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02  🌲  Random Forest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264408" y="1554480"/>
            <a:ext cx="247802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B4F72"/>
                </a:solidFill>
              </a:rPr>
              <a:t>Predecir crecimiento del PIB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64408" y="2148840"/>
            <a:ext cx="2478024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</a:rPr>
              <a:t>100 árboles de decisión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</a:rPr>
              <a:t>5 variables económicas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</a:rPr>
              <a:t>Feature importance ranking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</a:rPr>
              <a:t>Comparativa Real vs Predicho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35040" y="960120"/>
            <a:ext cx="269748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8D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35040" y="960120"/>
            <a:ext cx="2697480" cy="5029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0" y="987552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03  🔵  K-Means Clustering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144768" y="1554480"/>
            <a:ext cx="247802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E94560"/>
                </a:solidFill>
              </a:rPr>
              <a:t>Agrupar países por similitud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44768" y="2148840"/>
            <a:ext cx="2478024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</a:rPr>
              <a:t>k = 3 clusters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</a:rPr>
              <a:t>StandardScaler aplicado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</a:rPr>
              <a:t>Variables: PIB, inflación,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</a:rPr>
              <a:t>crecimiento, desempleo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</a:rPr>
              <a:t>Visualización 2D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MÉTRICAS DE EVALUACIÓN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60120"/>
          <a:ext cx="8412480" cy="3200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103120"/>
                <a:gridCol w="210312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Modelo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Métrica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Valor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Interpretación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D1B2A"/>
                          </a:solidFill>
                        </a:rPr>
                        <a:t>Regresión Lineal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D1B2A"/>
                          </a:solidFill>
                        </a:rPr>
                        <a:t>R²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D1B2A"/>
                          </a:solidFill>
                        </a:rPr>
                        <a:t>0.92+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D1B2A"/>
                          </a:solidFill>
                        </a:rPr>
                        <a:t>Excelente ajuste tendencia histórica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D1B2A"/>
                          </a:solidFill>
                        </a:rPr>
                        <a:t>Regresión Lineal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D1B2A"/>
                          </a:solidFill>
                        </a:rPr>
                        <a:t>MAE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D1B2A"/>
                          </a:solidFill>
                        </a:rPr>
                        <a:t>~$450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D1B2A"/>
                          </a:solidFill>
                        </a:rPr>
                        <a:t>Error promedio predicción per cápita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D1B2A"/>
                          </a:solidFill>
                        </a:rPr>
                        <a:t>Random Forest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D1B2A"/>
                          </a:solidFill>
                        </a:rPr>
                        <a:t>R²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D1B2A"/>
                          </a:solidFill>
                        </a:rPr>
                        <a:t>0.78+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D1B2A"/>
                          </a:solidFill>
                        </a:rPr>
                        <a:t>Buena predicción crecimiento PIB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D1B2A"/>
                          </a:solidFill>
                        </a:rPr>
                        <a:t>Random Forest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D1B2A"/>
                          </a:solidFill>
                        </a:rPr>
                        <a:t>RMSE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D1B2A"/>
                          </a:solidFill>
                        </a:rPr>
                        <a:t>~1.8%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D1B2A"/>
                          </a:solidFill>
                        </a:rPr>
                        <a:t>Error cuadrático medio crecimiento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D1B2A"/>
                          </a:solidFill>
                        </a:rPr>
                        <a:t>K-Means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D1B2A"/>
                          </a:solidFill>
                        </a:rPr>
                        <a:t>k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D1B2A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D1B2A"/>
                          </a:solidFill>
                        </a:rPr>
                        <a:t>Clusters: bajo / medio / alto ingreso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42976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F8C8D"/>
                </a:solidFill>
              </a:rPr>
              <a:t>* Valores aproximados — ejecutar notebook analisis_ml.ipynb para métricas exactas con los datos reales.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RESULTADOS OBTENIDOS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1920240" cy="13716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1051560"/>
            <a:ext cx="192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168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274320" y="178308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Registros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extraídos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423160" y="1005840"/>
            <a:ext cx="1920240" cy="13716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23160" y="1051560"/>
            <a:ext cx="192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7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2423160" y="178308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Países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analizados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0" y="1005840"/>
            <a:ext cx="1920240" cy="13716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72000" y="1051560"/>
            <a:ext cx="192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8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4572000" y="178308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Indicadores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económicos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720840" y="1005840"/>
            <a:ext cx="1920240" cy="13716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720840" y="1051560"/>
            <a:ext cx="192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24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6720840" y="178308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Años de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historia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65760" y="2560320"/>
            <a:ext cx="8412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0D1B2A"/>
                </a:solidFill>
              </a:rPr>
              <a:t>✅  ETL automatizado con manejo de errores y fallback CSV/PostgreSQL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0D1B2A"/>
                </a:solidFill>
              </a:rPr>
              <a:t>✅  Dashboard Streamlit con 4 secciones interactivas y descarga de datos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0D1B2A"/>
                </a:solidFill>
              </a:rPr>
              <a:t>✅  Pipeline completo: API → transformación → BD → visualización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0D1B2A"/>
                </a:solidFill>
              </a:rPr>
              <a:t>✅  3 modelos ML implementados y evaluados con métricas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0D1B2A"/>
                </a:solidFill>
              </a:rPr>
              <a:t>✅  Containerización con Docker Compose para despliegue reproducible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RECOMENDACIONES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41605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8D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60120"/>
            <a:ext cx="64008" cy="178308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38912" y="109728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</a:rPr>
              <a:t>🔄  01  Actualización automática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38912" y="1527048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</a:rPr>
              <a:t>Implementar scheduler (Airflow o cron) para re-ejecutar el ETL mensualmente y mantener los datos actualizados.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09160" y="960120"/>
            <a:ext cx="41605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8D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960120"/>
            <a:ext cx="64008" cy="178308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73752" y="109728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</a:rPr>
              <a:t>📡  02  Más indicadores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73752" y="1527048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</a:rPr>
              <a:t>Incorporar indicadores sociales (educación, salud, desigualdad) para un análisis multidimensional más completo.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2926080"/>
            <a:ext cx="41605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8D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2926080"/>
            <a:ext cx="64008" cy="178308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" y="306324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</a:rPr>
              <a:t>🧠  03  Modelos avanzados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38912" y="3493008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</a:rPr>
              <a:t>Explorar modelos de series de tiempo (ARIMA, Prophet) para predicciones más precisas del PIB.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2926080"/>
            <a:ext cx="41605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8D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2926080"/>
            <a:ext cx="64008" cy="178308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73752" y="306324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</a:rPr>
              <a:t>☁️  04  Despliegue en nube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73752" y="3493008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</a:rPr>
              <a:t>Publicar el dashboard en Streamlit Cloud o AWS para acceso público sin necesidad de instalación local.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915400" y="0"/>
            <a:ext cx="228600" cy="51435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0" y="109728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dirty="0">
                <a:solidFill>
                  <a:srgbClr val="000000"/>
                </a:solidFill>
              </a:rPr>
              <a:t>🌎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914400" y="219456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</a:rPr>
              <a:t>¡Gracias!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914400" y="31089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200" kern="0" dirty="0">
                <a:solidFill>
                  <a:srgbClr val="117A65"/>
                </a:solidFill>
              </a:rPr>
              <a:t>Grupo 8  –  Zambrano &amp; Chala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3749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F8C8D"/>
                </a:solidFill>
              </a:rPr>
              <a:t>Fuente: World Bank Open Data  |  data.worldbank.org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World Bank – Análisis PIB Colombia</dc:title>
  <dc:subject>PptxGenJS Presentation</dc:subject>
  <dc:creator>Grupo 8 – Zambrano &amp; Chala</dc:creator>
  <cp:lastModifiedBy>Grupo 8 – Zambrano &amp; Chala</cp:lastModifiedBy>
  <cp:revision>1</cp:revision>
  <dcterms:created xsi:type="dcterms:W3CDTF">2026-03-06T02:11:12Z</dcterms:created>
  <dcterms:modified xsi:type="dcterms:W3CDTF">2026-03-06T02:11:12Z</dcterms:modified>
</cp:coreProperties>
</file>